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Zava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50E6FF"/>
                </a:solidFill>
                <a:latin typeface="Segoe UI"/>
              </a:rPr>
              <a:t>Azure SRE Agent Training Lab — Architecture &amp; Fault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97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7E0F4"/>
                </a:solidFill>
                <a:latin typeface="Segoe UI"/>
              </a:rPr>
              <a:t>A realistic, DB-backed online-learning platform with TWO SRE-Agent stories on one Azure</a:t>
            </a:r>
          </a:p>
          <a:p>
            <a:pPr algn="l"/>
            <a:r>
              <a:rPr sz="1400" b="0" i="0">
                <a:solidFill>
                  <a:srgbClr val="C7E0F4"/>
                </a:solidFill>
                <a:latin typeface="Segoe UI"/>
              </a:rPr>
              <a:t>environment:  (1) 7 parallel fault "lanes" + a back-office reporting worker that each plant a</a:t>
            </a:r>
          </a:p>
          <a:p>
            <a:pPr algn="l"/>
            <a:r>
              <a:rPr sz="1400" b="0" i="0">
                <a:solidFill>
                  <a:srgbClr val="C7E0F4"/>
                </a:solidFill>
                <a:latin typeface="Segoe UI"/>
              </a:rPr>
              <a:t>real, symptom-only fault for the agent to autonomously detect, diagnose, and remediate; and</a:t>
            </a:r>
          </a:p>
          <a:p>
            <a:pPr algn="l"/>
            <a:r>
              <a:rPr sz="1400" b="0" i="0">
                <a:solidFill>
                  <a:srgbClr val="C7E0F4"/>
                </a:solidFill>
                <a:latin typeface="Segoe UI"/>
              </a:rPr>
              <a:t>(2) weekly READ-ONLY governance audits (NSG · RBAC · cost) delivered as branded PowerPoint.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C7E0F4"/>
                </a:solidFill>
                <a:latin typeface="Segoe UI"/>
              </a:rPr>
              <a:t>Blue/White Azure theme  •  App Gateway · Container Apps · PostgreSQL · Key Vault · SRE Agent · PagerDuty · Scheduled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The Platform — Zava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A McGraw-Hill-style online learning product (students take timed quizzes)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15544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002050"/>
                </a:solidFill>
                <a:latin typeface="Segoe UI"/>
              </a:rPr>
              <a:t>Learner Portal</a:t>
            </a:r>
          </a:p>
          <a:p>
            <a:pPr algn="ctr"/>
            <a:r>
              <a:rPr sz="1000">
                <a:solidFill>
                  <a:srgbClr val="606060"/>
                </a:solidFill>
                <a:latin typeface="Segoe UI"/>
              </a:rPr>
              <a:t>
Public web app students browse during midterms.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651760" cy="15544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002050"/>
                </a:solidFill>
                <a:latin typeface="Segoe UI"/>
              </a:rPr>
              <a:t>Course &amp; Assessment APIs</a:t>
            </a:r>
          </a:p>
          <a:p>
            <a:pPr algn="ctr"/>
            <a:r>
              <a:rPr sz="1000">
                <a:solidFill>
                  <a:srgbClr val="606060"/>
                </a:solidFill>
                <a:latin typeface="Segoe UI"/>
              </a:rPr>
              <a:t>
Serve course catalog and quiz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1371600"/>
            <a:ext cx="2651760" cy="15544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002050"/>
                </a:solidFill>
                <a:latin typeface="Segoe UI"/>
              </a:rPr>
              <a:t>Quiz Service (DB-backed)</a:t>
            </a:r>
          </a:p>
          <a:p>
            <a:pPr algn="ctr"/>
            <a:r>
              <a:rPr sz="1000">
                <a:solidFill>
                  <a:srgbClr val="606060"/>
                </a:solidFill>
                <a:latin typeface="Segoe UI"/>
              </a:rPr>
              <a:t>
Reads a 500k-row question bank from PostgreSQL.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371600"/>
            <a:ext cx="2651760" cy="15544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002050"/>
                </a:solidFill>
                <a:latin typeface="Segoe UI"/>
              </a:rPr>
              <a:t>Gradebook API</a:t>
            </a:r>
          </a:p>
          <a:p>
            <a:pPr algn="ctr"/>
            <a:r>
              <a:rPr sz="1000">
                <a:solidFill>
                  <a:srgbClr val="606060"/>
                </a:solidFill>
                <a:latin typeface="Segoe UI"/>
              </a:rPr>
              <a:t>
Writes &amp; reads student submissions.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32323"/>
                </a:solidFill>
                <a:latin typeface="Segoe UI"/>
              </a:rPr>
              <a:t>Every student request flows through one public Application Gateway into Azure Container Apps,</a:t>
            </a:r>
          </a:p>
          <a:p>
            <a:pPr algn="l"/>
            <a:r>
              <a:rPr sz="1300" b="0" i="0">
                <a:solidFill>
                  <a:srgbClr val="232323"/>
                </a:solidFill>
                <a:latin typeface="Segoe UI"/>
              </a:rPr>
              <a:t>which read and write a managed PostgreSQL database. Secrets live in Key Vault.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69080"/>
            <a:ext cx="11064240" cy="237744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Why this lab is "almost real world"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6070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•  Faults are driven by REAL inputs — IaC parameters, real source → real image, real DB state,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    or real Key Vault secrets — never env-var toggles or code-injection.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•  Alerts and student symptoms are SYMPTOM-ONLY; they never name the cause.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•  Diagnosing the root cause and proposing the durable IaC fix is the SRE Agent's job.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•  7 quiz lanes run in parallel on ONE environment, plus a reporting-worker VM scenario.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•  Beyond incidents, the same agent runs weekly READ-ONLY governance audits (NSG · RBAC ·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Segoe UI"/>
              </a:rPr>
              <a:t>    cost) delivered as branded PowerPoint — proactive posture, not just reactive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End-to-End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How every component connects on a single Azure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651760"/>
            <a:ext cx="1371600" cy="91440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2286000"/>
            <a:ext cx="1737360" cy="16459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Application
Gateway</a:t>
            </a:r>
          </a:p>
          <a:p>
            <a:pPr algn="ctr"/>
            <a:r>
              <a:rPr sz="900">
                <a:solidFill>
                  <a:srgbClr val="C7E0F4"/>
                </a:solidFill>
                <a:latin typeface="Segoe UI"/>
              </a:rPr>
              <a:t>:80 portal
:8081–:8087 lanes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83080" y="3108960"/>
            <a:ext cx="457200" cy="0"/>
          </a:xfrm>
          <a:prstGeom prst="line">
            <a:avLst/>
          </a:prstGeom>
          <a:ln w="28575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97680" y="1234440"/>
            <a:ext cx="5212080" cy="5166360"/>
          </a:xfrm>
          <a:prstGeom prst="roundRect">
            <a:avLst/>
          </a:prstGeom>
          <a:solidFill>
            <a:srgbClr val="EFF6FC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98448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05EA6"/>
                </a:solidFill>
                <a:latin typeface="Segoe UI"/>
              </a:rPr>
              <a:t>Virtual Network  10.20.0.0/16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83080"/>
            <a:ext cx="475488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232323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05EA6"/>
                </a:solidFill>
                <a:latin typeface="Segoe UI"/>
              </a:rPr>
              <a:t>Main Container Apps env  (aca-subnet 10.20.2.0/23)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2212848"/>
            <a:ext cx="141732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002050"/>
                </a:solidFill>
                <a:latin typeface="Segoe UI"/>
              </a:rPr>
              <a:t>learner-portal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212848"/>
            <a:ext cx="141732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002050"/>
                </a:solidFill>
                <a:latin typeface="Segoe UI"/>
              </a:rPr>
              <a:t>course-api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99248" y="2212848"/>
            <a:ext cx="146304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002050"/>
                </a:solidFill>
                <a:latin typeface="Segoe UI"/>
              </a:rPr>
              <a:t>assessment-api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2852928"/>
            <a:ext cx="141732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002050"/>
                </a:solidFill>
                <a:latin typeface="Segoe UI"/>
              </a:rPr>
              <a:t>gradebook-api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852928"/>
            <a:ext cx="2971800" cy="1170432"/>
          </a:xfrm>
          <a:prstGeom prst="roundRect">
            <a:avLst/>
          </a:prstGeom>
          <a:solidFill>
            <a:srgbClr val="50E6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002050"/>
                </a:solidFill>
                <a:latin typeface="Segoe UI"/>
              </a:rPr>
              <a:t>6 Quiz-Service Lanes
quiz-appgw · quiz-app · quiz-perf
quiz-query · quiz-pool · quiz-secret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224528"/>
            <a:ext cx="28803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232323"/>
                </a:solidFill>
                <a:latin typeface="Segoe U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42702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105EA6"/>
                </a:solidFill>
                <a:latin typeface="Segoe UI"/>
              </a:rPr>
              <a:t>2nd ACA env  (nsg-lane 10.20.4.0/23)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36008" y="4617720"/>
            <a:ext cx="2651760" cy="530352"/>
          </a:xfrm>
          <a:prstGeom prst="roundRect">
            <a:avLst/>
          </a:prstGeom>
          <a:solidFill>
            <a:srgbClr val="50E6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002050"/>
                </a:solidFill>
                <a:latin typeface="Segoe UI"/>
              </a:rPr>
              <a:t>quiz-nsg  (isolated nsg lane)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4224528"/>
            <a:ext cx="1737360" cy="10515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Reporting VM</a:t>
            </a:r>
          </a:p>
          <a:p>
            <a:pPr algn="ctr"/>
            <a:r>
              <a:rPr sz="700">
                <a:solidFill>
                  <a:srgbClr val="C7E0F4"/>
                </a:solidFill>
                <a:latin typeface="Segoe UI"/>
              </a:rPr>
              <a:t>vm-subnet 10.20.6.0/24
B1s + 8 GB data disk
Syslog → Azure Monitor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7639" y="2926080"/>
            <a:ext cx="2212849" cy="274320"/>
          </a:xfrm>
          <a:prstGeom prst="line">
            <a:avLst/>
          </a:prstGeom>
          <a:ln w="2540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977639" y="3383280"/>
            <a:ext cx="868681" cy="1188720"/>
          </a:xfrm>
          <a:prstGeom prst="line">
            <a:avLst/>
          </a:prstGeom>
          <a:ln w="2540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29800" y="1874519"/>
            <a:ext cx="2057400" cy="10515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Azure Database
for PostgreSQL</a:t>
            </a:r>
          </a:p>
          <a:p>
            <a:pPr algn="ctr"/>
            <a:r>
              <a:rPr sz="800">
                <a:solidFill>
                  <a:srgbClr val="C7E0F4"/>
                </a:solidFill>
                <a:latin typeface="Segoe UI"/>
              </a:rPr>
              <a:t>zava · zava_query
role: app_pool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3154680"/>
            <a:ext cx="2057400" cy="10058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Key Vault</a:t>
            </a:r>
          </a:p>
          <a:p>
            <a:pPr algn="ctr"/>
            <a:r>
              <a:rPr sz="800">
                <a:solidFill>
                  <a:srgbClr val="C7E0F4"/>
                </a:solidFill>
                <a:latin typeface="Segoe UI"/>
              </a:rPr>
              <a:t>db-password
db-password-secretlane
db-pool-password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4343400"/>
            <a:ext cx="2057400" cy="685800"/>
          </a:xfrm>
          <a:prstGeom prst="roundRect">
            <a:avLst/>
          </a:prstGeom>
          <a:solidFill>
            <a:srgbClr val="105EA6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Container Registry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9235440" y="2468880"/>
            <a:ext cx="594360" cy="822960"/>
          </a:xfrm>
          <a:prstGeom prst="line">
            <a:avLst/>
          </a:prstGeom>
          <a:ln w="22225">
            <a:solidFill>
              <a:srgbClr val="105E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35440" y="3566160"/>
            <a:ext cx="594360" cy="0"/>
          </a:xfrm>
          <a:prstGeom prst="line">
            <a:avLst/>
          </a:prstGeom>
          <a:ln w="22225">
            <a:solidFill>
              <a:srgbClr val="105E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11480" y="5029200"/>
            <a:ext cx="1828800" cy="960120"/>
          </a:xfrm>
          <a:prstGeom prst="roundRect">
            <a:avLst/>
          </a:prstGeom>
          <a:solidFill>
            <a:srgbClr val="002050"/>
          </a:solidFill>
          <a:ln w="15875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Azure Monitor
Alerts</a:t>
            </a:r>
          </a:p>
          <a:p>
            <a:pPr algn="ctr"/>
            <a:r>
              <a:rPr sz="800">
                <a:solidFill>
                  <a:srgbClr val="50E6FF"/>
                </a:solidFill>
                <a:latin typeface="Segoe UI"/>
              </a:rPr>
              <a:t>symptom-only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5029200"/>
            <a:ext cx="1691640" cy="960120"/>
          </a:xfrm>
          <a:prstGeom prst="roundRect">
            <a:avLst/>
          </a:prstGeom>
          <a:solidFill>
            <a:srgbClr val="002050"/>
          </a:solidFill>
          <a:ln w="15875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PagerDuty
Incidents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5440680"/>
            <a:ext cx="4754880" cy="86868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Azure SRE Agent  —  detect · diagnose · mitigate live · open IaC PR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325880" y="3931920"/>
            <a:ext cx="0" cy="1097280"/>
          </a:xfrm>
          <a:prstGeom prst="line">
            <a:avLst/>
          </a:prstGeom>
          <a:ln w="19050">
            <a:solidFill>
              <a:srgbClr val="00205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40280" y="5486400"/>
            <a:ext cx="182880" cy="0"/>
          </a:xfrm>
          <a:prstGeom prst="line">
            <a:avLst/>
          </a:prstGeom>
          <a:ln w="22225">
            <a:solidFill>
              <a:srgbClr val="50E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14800" y="5669280"/>
            <a:ext cx="411480" cy="137160"/>
          </a:xfrm>
          <a:prstGeom prst="line">
            <a:avLst/>
          </a:prstGeom>
          <a:ln w="22225">
            <a:solidFill>
              <a:srgbClr val="50E6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858000" y="5166360"/>
            <a:ext cx="0" cy="274320"/>
          </a:xfrm>
          <a:prstGeom prst="line">
            <a:avLst/>
          </a:prstGeom>
          <a:ln w="22225">
            <a:solidFill>
              <a:srgbClr val="50E6FF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Network Topology &amp; Isolation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One VNet, four subnets, four NSGs — lanes share infra but stay isolated where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1064240" cy="3657600"/>
          </a:xfrm>
          <a:prstGeom prst="roundRect">
            <a:avLst/>
          </a:prstGeom>
          <a:solidFill>
            <a:srgbClr val="EFF6FC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vnet-zava   10.20.0.0/16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2542032" cy="2834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232323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92807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05EA6"/>
                </a:solidFill>
                <a:latin typeface="Segoe UI"/>
              </a:rPr>
              <a:t>appgw-subnet</a:t>
            </a:r>
          </a:p>
          <a:p>
            <a:pPr algn="l"/>
            <a:r>
              <a:rPr sz="1000" b="1" i="0">
                <a:solidFill>
                  <a:srgbClr val="105EA6"/>
                </a:solidFill>
                <a:latin typeface="Segoe UI"/>
              </a:rPr>
              <a:t>10.20.1.0/24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468880"/>
            <a:ext cx="2359152" cy="91440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Application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520440"/>
            <a:ext cx="2359152" cy="64008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002050"/>
                </a:solidFill>
                <a:latin typeface="Segoe UI"/>
              </a:rPr>
              <a:t>NSG: nsg-appgw</a:t>
            </a:r>
          </a:p>
          <a:p>
            <a:pPr algn="ctr"/>
            <a:r>
              <a:rPr sz="750">
                <a:solidFill>
                  <a:srgbClr val="606060"/>
                </a:solidFill>
                <a:latin typeface="Segoe UI"/>
              </a:rPr>
              <a:t>allow :80/:443 + :8081–:8087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828800"/>
            <a:ext cx="2542032" cy="2834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232323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1892807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05EA6"/>
                </a:solidFill>
                <a:latin typeface="Segoe UI"/>
              </a:rPr>
              <a:t>aca-subnet</a:t>
            </a:r>
          </a:p>
          <a:p>
            <a:pPr algn="l"/>
            <a:r>
              <a:rPr sz="1000" b="1" i="0">
                <a:solidFill>
                  <a:srgbClr val="105EA6"/>
                </a:solidFill>
                <a:latin typeface="Segoe UI"/>
              </a:rPr>
              <a:t>10.20.2.0/23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468880"/>
            <a:ext cx="2359152" cy="914400"/>
          </a:xfrm>
          <a:prstGeom prst="roundRect">
            <a:avLst/>
          </a:prstGeom>
          <a:solidFill>
            <a:srgbClr val="50E6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02050"/>
                </a:solidFill>
                <a:latin typeface="Segoe UI"/>
              </a:rPr>
              <a:t>Main ACA env
portal + APIs + 6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3520440"/>
            <a:ext cx="2359152" cy="64008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002050"/>
                </a:solidFill>
                <a:latin typeface="Segoe UI"/>
              </a:rPr>
              <a:t>NSG: nsg-aca</a:t>
            </a:r>
          </a:p>
          <a:p>
            <a:pPr algn="ctr"/>
            <a:r>
              <a:rPr sz="750">
                <a:solidFill>
                  <a:srgbClr val="606060"/>
                </a:solidFill>
                <a:latin typeface="Segoe UI"/>
              </a:rPr>
              <a:t>allow AppGw → apps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1616" y="1828800"/>
            <a:ext cx="2542032" cy="2834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232323"/>
                </a:solidFill>
                <a:latin typeface="Segoe U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1892807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5292C"/>
                </a:solidFill>
                <a:latin typeface="Segoe UI"/>
              </a:rPr>
              <a:t>nsg-lane-subnet</a:t>
            </a:r>
          </a:p>
          <a:p>
            <a:pPr algn="l"/>
            <a:r>
              <a:rPr sz="1000" b="1" i="0">
                <a:solidFill>
                  <a:srgbClr val="C5292C"/>
                </a:solidFill>
                <a:latin typeface="Segoe UI"/>
              </a:rPr>
              <a:t>10.20.4.0/23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468880"/>
            <a:ext cx="2359152" cy="914400"/>
          </a:xfrm>
          <a:prstGeom prst="roundRect">
            <a:avLst/>
          </a:prstGeom>
          <a:solidFill>
            <a:srgbClr val="50E6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02050"/>
                </a:solidFill>
                <a:latin typeface="Segoe UI"/>
              </a:rPr>
              <a:t>2nd ACA env
quiz-nsg (isolated)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520440"/>
            <a:ext cx="2359152" cy="6400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C5292C"/>
                </a:solidFill>
                <a:latin typeface="Segoe UI"/>
              </a:rPr>
              <a:t>NSG: nsg-nsglane</a:t>
            </a:r>
          </a:p>
          <a:p>
            <a:pPr algn="ctr"/>
            <a:r>
              <a:rPr sz="750">
                <a:solidFill>
                  <a:srgbClr val="C5292C"/>
                </a:solidFill>
                <a:latin typeface="Segoe UI"/>
              </a:rPr>
              <a:t>nsg scenario breaks ONLY here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828800"/>
            <a:ext cx="2542032" cy="2834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232323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1892807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05EA6"/>
                </a:solidFill>
                <a:latin typeface="Segoe UI"/>
              </a:rPr>
              <a:t>vm-subnet</a:t>
            </a:r>
          </a:p>
          <a:p>
            <a:pPr algn="l"/>
            <a:r>
              <a:rPr sz="1000" b="1" i="0">
                <a:solidFill>
                  <a:srgbClr val="105EA6"/>
                </a:solidFill>
                <a:latin typeface="Segoe UI"/>
              </a:rPr>
              <a:t>10.20.6.0/24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468880"/>
            <a:ext cx="2359152" cy="91440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Reporting-worker VM
nightly grade exports</a:t>
            </a:r>
          </a:p>
          <a:p>
            <a:pPr algn="ctr"/>
            <a:r>
              <a:rPr sz="800">
                <a:solidFill>
                  <a:srgbClr val="C7E0F4"/>
                </a:solidFill>
                <a:latin typeface="Segoe UI"/>
              </a:rPr>
              <a:t>B1s + 8 GB data disk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3520440"/>
            <a:ext cx="2359152" cy="64008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002050"/>
                </a:solidFill>
                <a:latin typeface="Segoe UI"/>
              </a:rPr>
              <a:t>NSG: nsg-vm</a:t>
            </a:r>
          </a:p>
          <a:p>
            <a:pPr algn="ctr"/>
            <a:r>
              <a:rPr sz="750">
                <a:solidFill>
                  <a:srgbClr val="606060"/>
                </a:solidFill>
                <a:latin typeface="Segoe UI"/>
              </a:rPr>
              <a:t>closed; reached via az run-command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2926080"/>
            <a:ext cx="118872" cy="0"/>
          </a:xfrm>
          <a:prstGeom prst="line">
            <a:avLst/>
          </a:prstGeom>
          <a:ln w="2540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91840" y="2743200"/>
            <a:ext cx="2779776" cy="0"/>
          </a:xfrm>
          <a:prstGeom prst="line">
            <a:avLst/>
          </a:prstGeom>
          <a:ln w="2540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5074920"/>
            <a:ext cx="11064240" cy="118872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Why split subnets?  The nsg scenario injects a network DENY rule — putting quiz-nsg in its own subnet + NSG
blackholes ONLY its lane while the other six keep serving. The reporting-worker VM sits in its own subnet (no
inbound; chaos and the agent reach it via az vm run-command). PostgreSQL is reached over VNet-integrated egress.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The Incident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Every scenario follows the same closed loop — a real break and a durable fix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691640" cy="1737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  Break</a:t>
            </a:r>
          </a:p>
          <a:p>
            <a:pPr algn="ctr"/>
            <a:r>
              <a:rPr sz="1000">
                <a:solidFill>
                  <a:srgbClr val="C7E0F4"/>
                </a:solidFill>
                <a:latin typeface="Segoe UI"/>
              </a:rPr>
              <a:t>
A real fault ships:
IaC param, image,
DB state, or secret.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880360"/>
            <a:ext cx="201168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95728" y="2011680"/>
            <a:ext cx="1691640" cy="1737360"/>
          </a:xfrm>
          <a:prstGeom prst="roundRect">
            <a:avLst/>
          </a:prstGeom>
          <a:solidFill>
            <a:srgbClr val="105EA6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  Symptom</a:t>
            </a:r>
          </a:p>
          <a:p>
            <a:pPr algn="ctr"/>
            <a:r>
              <a:rPr sz="1000">
                <a:solidFill>
                  <a:srgbClr val="C7E0F4"/>
                </a:solidFill>
                <a:latin typeface="Segoe UI"/>
              </a:rPr>
              <a:t>
Students feel it.
Symptom-only —
no cause named.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87368" y="2880360"/>
            <a:ext cx="201168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88536" y="2011680"/>
            <a:ext cx="1691640" cy="1737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  Detect</a:t>
            </a:r>
          </a:p>
          <a:p>
            <a:pPr algn="ctr"/>
            <a:r>
              <a:rPr sz="1000">
                <a:solidFill>
                  <a:srgbClr val="C7E0F4"/>
                </a:solidFill>
                <a:latin typeface="Segoe UI"/>
              </a:rPr>
              <a:t>
Azure Monitor alert
+ synthetic monitor
page PagerDuty.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0175" y="2880360"/>
            <a:ext cx="201169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81344" y="2011680"/>
            <a:ext cx="1691640" cy="1737360"/>
          </a:xfrm>
          <a:prstGeom prst="roundRect">
            <a:avLst/>
          </a:prstGeom>
          <a:solidFill>
            <a:srgbClr val="105EA6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  Engage</a:t>
            </a:r>
          </a:p>
          <a:p>
            <a:pPr algn="ctr"/>
            <a:r>
              <a:rPr sz="1000">
                <a:solidFill>
                  <a:srgbClr val="C7E0F4"/>
                </a:solidFill>
                <a:latin typeface="Segoe UI"/>
              </a:rPr>
              <a:t>
SRE Agent acks the
incident &amp; begins
diagnosis.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72983" y="2880360"/>
            <a:ext cx="201169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74152" y="2011680"/>
            <a:ext cx="1691640" cy="173736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  Mitigate</a:t>
            </a:r>
          </a:p>
          <a:p>
            <a:pPr algn="ctr"/>
            <a:r>
              <a:rPr sz="1000">
                <a:solidFill>
                  <a:srgbClr val="C7E0F4"/>
                </a:solidFill>
                <a:latin typeface="Segoe UI"/>
              </a:rPr>
              <a:t>
Agent restores
service LIVE
(fast recovery).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65792" y="2880360"/>
            <a:ext cx="201168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66960" y="2011680"/>
            <a:ext cx="1691640" cy="1737360"/>
          </a:xfrm>
          <a:prstGeom prst="roundRect">
            <a:avLst/>
          </a:prstGeom>
          <a:solidFill>
            <a:srgbClr val="105EA6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6  Durable Fix</a:t>
            </a:r>
          </a:p>
          <a:p>
            <a:pPr algn="ctr"/>
            <a:r>
              <a:rPr sz="1000">
                <a:solidFill>
                  <a:srgbClr val="C7E0F4"/>
                </a:solidFill>
                <a:latin typeface="Segoe UI"/>
              </a:rPr>
              <a:t>
Agent opens an
IaC PR to fix the
root cause.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371600" y="3749039"/>
            <a:ext cx="9601200" cy="0"/>
          </a:xfrm>
          <a:prstGeom prst="line">
            <a:avLst/>
          </a:prstGeom>
          <a:ln w="25400">
            <a:solidFill>
              <a:srgbClr val="107C1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0" y="3794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07C10"/>
                </a:solidFill>
                <a:latin typeface="Segoe UI"/>
              </a:rPr>
              <a:t>reset.ps1 restores baseline for the next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72000"/>
            <a:ext cx="11155680" cy="15544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50" b="0">
                <a:solidFill>
                  <a:srgbClr val="232323"/>
                </a:solidFill>
                <a:latin typeface="Segoe UI"/>
              </a:rPr>
              <a:t>Two detection paths:  log-based Azure Monitor alerts catch the latency / error scenarios, while a synthetic
student-journey monitor pages PagerDuty directly for connectivity blackholes that emit no logs.  The simulator
(simulator/demo.py) narrates the whole loop and deep-links to the live SRE Agent investigation thread.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Seven Parallel Fault 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Same App Gateway, one frontend port per lane — all scenarios run at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011680" cy="43891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Application
Gateway
public IP</a:t>
            </a:r>
          </a:p>
          <a:p>
            <a:pPr algn="ctr"/>
            <a:r>
              <a:rPr sz="900">
                <a:solidFill>
                  <a:srgbClr val="C7E0F4"/>
                </a:solidFill>
                <a:latin typeface="Segoe UI"/>
              </a:rPr>
              <a:t>:80 → learner-portal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371600"/>
            <a:ext cx="960120" cy="566928"/>
          </a:xfrm>
          <a:prstGeom prst="roundRect">
            <a:avLst/>
          </a:prstGeom>
          <a:solidFill>
            <a:srgbClr val="002050"/>
          </a:solidFill>
          <a:ln w="15875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:8081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219456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quiz-nsg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371600"/>
            <a:ext cx="3108960" cy="566928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C5292C"/>
                </a:solidFill>
                <a:latin typeface="Segoe UI"/>
              </a:rPr>
              <a:t>Network DENY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371600"/>
            <a:ext cx="1600200" cy="566928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105EA6"/>
                </a:solidFill>
                <a:latin typeface="Segoe UI"/>
              </a:rPr>
              <a:t>2nd ACA env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655064"/>
            <a:ext cx="59436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69080" y="1655064"/>
            <a:ext cx="22860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08960" y="2002536"/>
            <a:ext cx="960120" cy="566928"/>
          </a:xfrm>
          <a:prstGeom prst="roundRect">
            <a:avLst/>
          </a:prstGeom>
          <a:solidFill>
            <a:srgbClr val="002050"/>
          </a:solidFill>
          <a:ln w="15875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:8082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02536"/>
            <a:ext cx="219456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quiz-appgw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002536"/>
            <a:ext cx="3108960" cy="566928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C5292C"/>
                </a:solidFill>
                <a:latin typeface="Segoe UI"/>
              </a:rPr>
              <a:t>Bad health-probe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2002536"/>
            <a:ext cx="1600200" cy="566928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105EA6"/>
                </a:solidFill>
                <a:latin typeface="Segoe UI"/>
              </a:rPr>
              <a:t>App Gateway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2286000"/>
            <a:ext cx="59436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69080" y="2286000"/>
            <a:ext cx="22860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08960" y="2633472"/>
            <a:ext cx="960120" cy="566928"/>
          </a:xfrm>
          <a:prstGeom prst="roundRect">
            <a:avLst/>
          </a:prstGeom>
          <a:solidFill>
            <a:srgbClr val="002050"/>
          </a:solidFill>
          <a:ln w="15875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:8083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633472"/>
            <a:ext cx="219456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quiz-app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633472"/>
            <a:ext cx="3108960" cy="566928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C5292C"/>
                </a:solidFill>
                <a:latin typeface="Segoe UI"/>
              </a:rPr>
              <a:t>Scaled to zero replicas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2633472"/>
            <a:ext cx="1600200" cy="566928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105EA6"/>
                </a:solidFill>
                <a:latin typeface="Segoe UI"/>
              </a:rPr>
              <a:t>Container Apps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14600" y="2916936"/>
            <a:ext cx="59436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69080" y="2916936"/>
            <a:ext cx="22860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108960" y="3264408"/>
            <a:ext cx="960120" cy="566928"/>
          </a:xfrm>
          <a:prstGeom prst="roundRect">
            <a:avLst/>
          </a:prstGeom>
          <a:solidFill>
            <a:srgbClr val="002050"/>
          </a:solidFill>
          <a:ln w="15875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:8084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264408"/>
            <a:ext cx="219456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quiz-perf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3264408"/>
            <a:ext cx="3108960" cy="566928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C5292C"/>
                </a:solidFill>
                <a:latin typeface="Segoe UI"/>
              </a:rPr>
              <a:t>Slow code release (v1.1 image)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3264408"/>
            <a:ext cx="1600200" cy="566928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105EA6"/>
                </a:solidFill>
                <a:latin typeface="Segoe UI"/>
              </a:rPr>
              <a:t>App code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14600" y="3547872"/>
            <a:ext cx="59436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69080" y="3547872"/>
            <a:ext cx="22860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108960" y="3895344"/>
            <a:ext cx="960120" cy="566928"/>
          </a:xfrm>
          <a:prstGeom prst="roundRect">
            <a:avLst/>
          </a:prstGeom>
          <a:solidFill>
            <a:srgbClr val="002050"/>
          </a:solidFill>
          <a:ln w="15875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:8085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895344"/>
            <a:ext cx="219456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quiz-query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895344"/>
            <a:ext cx="3108960" cy="566928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C5292C"/>
                </a:solidFill>
                <a:latin typeface="Segoe UI"/>
              </a:rPr>
              <a:t>Question-bank index corruption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3895344"/>
            <a:ext cx="1600200" cy="566928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105EA6"/>
                </a:solidFill>
                <a:latin typeface="Segoe UI"/>
              </a:rPr>
              <a:t>PostgreSQL zava_query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14600" y="4178807"/>
            <a:ext cx="59436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069080" y="4178807"/>
            <a:ext cx="22860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108960" y="4526279"/>
            <a:ext cx="960120" cy="566928"/>
          </a:xfrm>
          <a:prstGeom prst="roundRect">
            <a:avLst/>
          </a:prstGeom>
          <a:solidFill>
            <a:srgbClr val="002050"/>
          </a:solidFill>
          <a:ln w="15875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:8086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4526279"/>
            <a:ext cx="219456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quiz-pool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4526279"/>
            <a:ext cx="3108960" cy="566928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C5292C"/>
                </a:solidFill>
                <a:latin typeface="Segoe UI"/>
              </a:rPr>
              <a:t>DB role connection limit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4526279"/>
            <a:ext cx="1600200" cy="566928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105EA6"/>
                </a:solidFill>
                <a:latin typeface="Segoe UI"/>
              </a:rPr>
              <a:t>PostgreSQL role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14600" y="4809743"/>
            <a:ext cx="59436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9080" y="4809743"/>
            <a:ext cx="22860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108960" y="5157215"/>
            <a:ext cx="960120" cy="566928"/>
          </a:xfrm>
          <a:prstGeom prst="roundRect">
            <a:avLst/>
          </a:prstGeom>
          <a:solidFill>
            <a:srgbClr val="002050"/>
          </a:solidFill>
          <a:ln w="15875">
            <a:solidFill>
              <a:srgbClr val="50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:8087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5157215"/>
            <a:ext cx="2194560" cy="566928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quiz-secret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0840" y="5157215"/>
            <a:ext cx="3108960" cy="566928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C5292C"/>
                </a:solidFill>
                <a:latin typeface="Segoe UI"/>
              </a:rPr>
              <a:t>Rotated invalid credential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5157215"/>
            <a:ext cx="1600200" cy="566928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105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105EA6"/>
                </a:solidFill>
                <a:latin typeface="Segoe UI"/>
              </a:rPr>
              <a:t>Key Vault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14600" y="5440679"/>
            <a:ext cx="59436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069080" y="5440679"/>
            <a:ext cx="228600" cy="0"/>
          </a:xfrm>
          <a:prstGeom prst="line">
            <a:avLst/>
          </a:prstGeom>
          <a:ln w="19050">
            <a:solidFill>
              <a:srgbClr val="0078D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108960" y="58978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Segoe UI"/>
              </a:rPr>
              <a:t>lane (operator)        container app           planted fault (symptom-only to students)        breaks 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The SRE Agent — How It's Wired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The incident-responder handles every Zava incident from telemetry; 3 scheduled auditors run weekly governance (next section)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440680" cy="109728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400" b="1">
                <a:solidFill>
                  <a:srgbClr val="50E6FF"/>
                </a:solidFill>
                <a:latin typeface="Segoe UI"/>
              </a:rPr>
              <a:t>Incident agent:  zava-incident-responder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ExtendedAgent · autonomous · temperature 0.2 · critic-on-handoff gate.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Applied idempotently via scripts/configure-agent (never by hand).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440680" cy="109728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400" b="1">
                <a:solidFill>
                  <a:srgbClr val="50E6FF"/>
                </a:solidFill>
                <a:latin typeface="Segoe UI"/>
              </a:rPr>
              <a:t>Incident filter:  zava-learning-response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368" y="17830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title contains 'Zava' · Sev0–Sev4 · agentMode = autonomous ·</a:t>
            </a:r>
          </a:p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handlingAgent → the agent · ≤3 attempts · 3 h merge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1115568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Skills it can load (Zava + built-in system skills)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Triage:   connectivity-triage  (edge / network)      ·      performance-investigation  (app tier + reporting VM)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Then, in order:   rca-analysis → evidence-before-after → recommendations-next-steps → pr-delivery →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                      servicenow-change-management → zava-reporting → pagerduty-incident-update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System skills (diagnostic support):   network-connectivity · load-balancer · application-gateway · network-topology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09160"/>
            <a:ext cx="5486400" cy="384048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Connectors  (data it reads)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93208"/>
            <a:ext cx="5486400" cy="1216152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5166360"/>
            <a:ext cx="526694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Application Insights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Log Analytics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Azure Monitor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Microsoft Learn  (MCP)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709160"/>
            <a:ext cx="5486400" cy="384048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Tools  (actions it takes)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5093208"/>
            <a:ext cx="5486400" cy="1216152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5166360"/>
            <a:ext cx="5266944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RunAzCli read + write commands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Python — builds the HTML report &amp; audit decks on disk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CreateServiceNowChangeRequest · UploadServiceNowAttachment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SearchMemory · log_analytics_query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What Each Skill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Incident-response skills: the agent picks ONE triage skill from telemetry, then runs the rest in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3520440" cy="384048"/>
          </a:xfrm>
          <a:prstGeom prst="roundRect">
            <a:avLst/>
          </a:prstGeom>
          <a:solidFill>
            <a:srgbClr val="105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connectivity-triage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01368"/>
            <a:ext cx="3520440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874519"/>
            <a:ext cx="3300984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TRIAGE · edge / network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Traces App Gateway → NSG →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Container Apps → APIs, finds the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broken hop, and fixes it.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Used by: nsg · appgw · secret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3520440" cy="384048"/>
          </a:xfrm>
          <a:prstGeom prst="roundRect">
            <a:avLst/>
          </a:prstGeom>
          <a:solidFill>
            <a:srgbClr val="105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performance-investigation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801368"/>
            <a:ext cx="3520440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8" y="1874519"/>
            <a:ext cx="3300984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TRIAGE · app / worker tier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Reachable but degraded — 5xx,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slow, zero instances, or a VM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batch job failing. Fixes the tier.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Used by: app·perf·query·pool·disk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417320"/>
            <a:ext cx="3520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pagerduty-incident-update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801368"/>
            <a:ext cx="3520440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7" y="1874519"/>
            <a:ext cx="3300984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Acknowledges the incident, posts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symptom-only status notes, and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resolves it once recovery is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verified.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90088"/>
            <a:ext cx="3520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rca-analysis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374136"/>
            <a:ext cx="3520440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447288"/>
            <a:ext cx="3300984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Root-cause narrative: incident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timeline, trigger vs. latent cause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(5-Whys), and contributing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factors.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2990088"/>
            <a:ext cx="3520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evidence-before-after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3374136"/>
            <a:ext cx="3520440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8808" y="3447288"/>
            <a:ext cx="3300984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Renders the ONE before/after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visual (path/topology or time-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series) plus a delta table that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proves impact and recovery.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990088"/>
            <a:ext cx="3520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recommendations-next-steps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3374136"/>
            <a:ext cx="3520440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7" y="3447288"/>
            <a:ext cx="3300984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Prioritized preventive, detective,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and process actions — with owners,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target dates, and the risk of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inaction.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562856"/>
            <a:ext cx="3520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pr-delivery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946904"/>
            <a:ext cx="3520440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5020056"/>
            <a:ext cx="3300984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Opens the GitHub pull request for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the durable fix — Bicep (infra/) or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application code (src/). The PR the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Change Request references.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4562856"/>
            <a:ext cx="3520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servicenow-change-management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4946904"/>
            <a:ext cx="3520440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8808" y="5020056"/>
            <a:ext cx="3300984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Raises a ServiceNow Change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Request referencing the PR and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attaches the RCA report.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(Best-effort — never blocks.)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4562856"/>
            <a:ext cx="3520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zava-reporting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79" y="4946904"/>
            <a:ext cx="3520440" cy="109728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7" y="5020056"/>
            <a:ext cx="3300984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Branded in-thread executive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summary + a downloadable HTML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report; assembles the other</a:t>
            </a:r>
          </a:p>
          <a:p>
            <a:pPr algn="l"/>
            <a:r>
              <a:rPr sz="900" b="0" i="0">
                <a:solidFill>
                  <a:srgbClr val="232323"/>
                </a:solidFill>
                <a:latin typeface="Segoe UI"/>
              </a:rPr>
              <a:t>skills' output.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606060"/>
                </a:solidFill>
                <a:latin typeface="Segoe UI"/>
              </a:rPr>
              <a:t>Built-in system skills (network-connectivity · load-balancer · application-gateway · network-topology) reinforce triage. Audit skills (nsg-audit · rbac-audit · cost-analysis · zava-audit-report) + the always-on redaction-guard → see Proactive Governance Audits.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Response Runbook → Artifacts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Every incident follows the same ordered runbook and must produce every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1097280" cy="1691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  Acknowledge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
PagerDuty ack so
escalation stops.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63040" y="2240280"/>
            <a:ext cx="82296" cy="0"/>
          </a:xfrm>
          <a:prstGeom prst="line">
            <a:avLst/>
          </a:prstGeom>
          <a:ln w="1905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545336" y="1417320"/>
            <a:ext cx="1097280" cy="1691640"/>
          </a:xfrm>
          <a:prstGeom prst="roundRect">
            <a:avLst/>
          </a:prstGeom>
          <a:solidFill>
            <a:srgbClr val="105EA6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  Triage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
Edge/network vs.
app tier from
telemetry.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42615" y="2240280"/>
            <a:ext cx="82297" cy="0"/>
          </a:xfrm>
          <a:prstGeom prst="line">
            <a:avLst/>
          </a:prstGeom>
          <a:ln w="1905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24912" y="1417320"/>
            <a:ext cx="1097280" cy="1691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  Mitigate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
Smallest live fix
(recorded as a
note).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22191" y="2240280"/>
            <a:ext cx="82296" cy="0"/>
          </a:xfrm>
          <a:prstGeom prst="line">
            <a:avLst/>
          </a:prstGeom>
          <a:ln w="1905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04487" y="1417320"/>
            <a:ext cx="1097280" cy="1691640"/>
          </a:xfrm>
          <a:prstGeom prst="roundRect">
            <a:avLst/>
          </a:prstGeom>
          <a:solidFill>
            <a:srgbClr val="105EA6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  RCA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
Evidence-backed
root-cause
narrative.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01768" y="2240280"/>
            <a:ext cx="82296" cy="0"/>
          </a:xfrm>
          <a:prstGeom prst="line">
            <a:avLst/>
          </a:prstGeom>
          <a:ln w="1905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84064" y="1417320"/>
            <a:ext cx="1097280" cy="1691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4  Evidence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
Before/after data
proving impact +
recovery.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81344" y="2240280"/>
            <a:ext cx="82296" cy="0"/>
          </a:xfrm>
          <a:prstGeom prst="line">
            <a:avLst/>
          </a:prstGeom>
          <a:ln w="1905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63640" y="1417320"/>
            <a:ext cx="1097280" cy="1691640"/>
          </a:xfrm>
          <a:prstGeom prst="roundRect">
            <a:avLst/>
          </a:prstGeom>
          <a:solidFill>
            <a:srgbClr val="105EA6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5  Recommend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
Prioritized
preventive / next
steps.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19" y="2240280"/>
            <a:ext cx="82297" cy="0"/>
          </a:xfrm>
          <a:prstGeom prst="line">
            <a:avLst/>
          </a:prstGeom>
          <a:ln w="1905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43216" y="1417320"/>
            <a:ext cx="1097280" cy="1691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6  PR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
GitHub IaC/code
pull request
(durable fix).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40496" y="2240280"/>
            <a:ext cx="82296" cy="0"/>
          </a:xfrm>
          <a:prstGeom prst="line">
            <a:avLst/>
          </a:prstGeom>
          <a:ln w="1905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22792" y="1417320"/>
            <a:ext cx="1097280" cy="1691640"/>
          </a:xfrm>
          <a:prstGeom prst="roundRect">
            <a:avLst/>
          </a:prstGeom>
          <a:solidFill>
            <a:srgbClr val="105EA6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7  Change Mgmt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
ServiceNow CR
ref PR (best-
effort).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20072" y="2240280"/>
            <a:ext cx="82295" cy="0"/>
          </a:xfrm>
          <a:prstGeom prst="line">
            <a:avLst/>
          </a:prstGeom>
          <a:ln w="1905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02367" y="1417320"/>
            <a:ext cx="1097280" cy="1691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8  Report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
Branded
downloadable
HTML report.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899647" y="2240280"/>
            <a:ext cx="82296" cy="0"/>
          </a:xfrm>
          <a:prstGeom prst="line">
            <a:avLst/>
          </a:prstGeom>
          <a:ln w="1905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981943" y="1417320"/>
            <a:ext cx="1097280" cy="1691640"/>
          </a:xfrm>
          <a:prstGeom prst="roundRect">
            <a:avLst/>
          </a:prstGeom>
          <a:solidFill>
            <a:srgbClr val="105EA6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9  Resolve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
PD summary note
+ resolve once
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11880"/>
            <a:ext cx="1115568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Artifacts the agent must produce (critic-on-handoff blocks completion until all exist)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60520"/>
            <a:ext cx="5486400" cy="384048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Investigation &amp;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44568"/>
            <a:ext cx="5486400" cy="1673352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617720"/>
            <a:ext cx="5266944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PagerDuty incident — acknowledged then resolved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Root-cause analysis narrative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Before/after evidence (data proving recovery)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Prioritized recommendations &amp; next steps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160520"/>
            <a:ext cx="5486400" cy="384048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Durable fix &amp; hand-off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544568"/>
            <a:ext cx="5486400" cy="1673352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4617720"/>
            <a:ext cx="5266944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GitHub pull request (IaC or code) for the durable fix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ServiceNow Change Request referencing the PR + RCA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Downloadable branded HTML executive report</a:t>
            </a:r>
          </a:p>
          <a:p>
            <a:pPr algn="l"/>
            <a:r>
              <a:rPr sz="1100" b="0" i="0">
                <a:solidFill>
                  <a:srgbClr val="232323"/>
                </a:solidFill>
                <a:latin typeface="Segoe UI"/>
              </a:rPr>
              <a:t>•  Symptom-only PD closure note (cause never assumed)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Two Ways the SRE Agent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The same agent platform runs reactive incident response AND proactive weekly governance audits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48640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REACTIVE  —  incident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486400" cy="4069080"/>
          </a:xfrm>
          <a:prstGeom prst="roundRect">
            <a:avLst/>
          </a:prstGeom>
          <a:solidFill>
            <a:srgbClr val="EFF6FC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232323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5166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Trigger:  an Azure Monitor / synthetic alert pages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PagerDuty.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Routing:  incident filter zava-learning-response →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zava-incident-responder  (autonomous).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Action:  acknowledge → triage → MITIGATE LIVE →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RCA → evidence → recommendations.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Hand-off:  GitHub IaC / code PR (durable fix) ·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ServiceNow CR · branded HTML report ·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PagerDuty resolved.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Cadence:  on demand, per incident.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Mode:  WRITES live mitigations + opens the fix PR.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486400" cy="50292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PROACTIVE  —  scheduled 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486400" cy="4069080"/>
          </a:xfrm>
          <a:prstGeom prst="roundRect">
            <a:avLst/>
          </a:prstGeom>
          <a:solidFill>
            <a:srgbClr val="DFF6DD"/>
          </a:solidFill>
          <a:ln w="19050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232323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5166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Trigger:  a weekly cron Scheduled Task — no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incident, no PagerDuty.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Routing:  each task → its own auditor agent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(zava-nsg / rbac / cost).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Action:  enumerate &amp; assess posture, score every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finding SEV1 / SEV2 / SEV3.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Hand-off:  ONE branded, downloadable PowerPoint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deck + a short posture summary with a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    clickable download link.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Cadence:  weekly, per audit type.</a:t>
            </a:r>
          </a:p>
          <a:p>
            <a:pPr algn="l"/>
            <a:r>
              <a:rPr sz="1150" b="0" i="0">
                <a:solidFill>
                  <a:srgbClr val="232323"/>
                </a:solidFill>
                <a:latin typeface="Segoe UI"/>
              </a:rPr>
              <a:t>Mode:  READ-ONLY — recommend, never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108192"/>
            <a:ext cx="11201400" cy="566928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Same custom-agent platform, connectors, and always-on redaction guard — all applied idempotently via scripts/configure-agent (never by hand).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Proactive Governance Audits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Three read-only weekly audits — each its own Scheduled Task, agent, and skill; each delivers a branded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691640" cy="45720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50E6FF"/>
                </a:solidFill>
                <a:latin typeface="Segoe UI"/>
              </a:rPr>
              <a:t>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371600"/>
            <a:ext cx="2514600" cy="45720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50E6FF"/>
                </a:solidFill>
                <a:latin typeface="Segoe UI"/>
              </a:rPr>
              <a:t>Scheduled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371600"/>
            <a:ext cx="2057400" cy="45720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50E6FF"/>
                </a:solidFill>
                <a:latin typeface="Segoe UI"/>
              </a:rPr>
              <a:t>Auditor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371600"/>
            <a:ext cx="1691640" cy="45720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50E6FF"/>
                </a:solidFill>
                <a:latin typeface="Segoe UI"/>
              </a:rPr>
              <a:t>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371600"/>
            <a:ext cx="3063240" cy="45720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50E6FF"/>
                </a:solidFill>
                <a:latin typeface="Segoe UI"/>
              </a:rPr>
              <a:t>What it inspects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1691640" cy="1170432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02050"/>
                </a:solidFill>
                <a:latin typeface="Segoe UI"/>
              </a:rPr>
              <a:t>Mon 08:00
0 8 * *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874519"/>
            <a:ext cx="251460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05EA6"/>
                </a:solidFill>
                <a:latin typeface="Segoe UI"/>
              </a:rPr>
              <a:t>zava-nsg-weekly-audit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874519"/>
            <a:ext cx="205740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002050"/>
                </a:solidFill>
                <a:latin typeface="Segoe UI"/>
              </a:rPr>
              <a:t>zava-nsg-auditor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74519"/>
            <a:ext cx="169164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0078D4"/>
                </a:solidFill>
                <a:latin typeface="Segoe UI"/>
              </a:rPr>
              <a:t>nsg-audit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874519"/>
            <a:ext cx="3063240" cy="11704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950" b="0">
                <a:solidFill>
                  <a:srgbClr val="232323"/>
                </a:solidFill>
                <a:latin typeface="Segoe UI"/>
              </a:rPr>
              <a:t>NSGs &amp; rules, route tables / UDRs, Private Endpoints &amp; DNS, publicly-exposed data — vs. the intended :8081–:8087 lanes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18104"/>
            <a:ext cx="1691640" cy="1170432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02050"/>
                </a:solidFill>
                <a:latin typeface="Segoe UI"/>
              </a:rPr>
              <a:t>Tue 08:00
0 8 * *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3118104"/>
            <a:ext cx="251460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05EA6"/>
                </a:solidFill>
                <a:latin typeface="Segoe UI"/>
              </a:rPr>
              <a:t>zava-rbac-weekly-audit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118104"/>
            <a:ext cx="205740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002050"/>
                </a:solidFill>
                <a:latin typeface="Segoe UI"/>
              </a:rPr>
              <a:t>zava-rbac-auditor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118104"/>
            <a:ext cx="169164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0078D4"/>
                </a:solidFill>
                <a:latin typeface="Segoe UI"/>
              </a:rPr>
              <a:t>rbac-audit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3118104"/>
            <a:ext cx="3063240" cy="11704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950" b="0">
                <a:solidFill>
                  <a:srgbClr val="232323"/>
                </a:solidFill>
                <a:latin typeface="Segoe UI"/>
              </a:rPr>
              <a:t>Role assignments at RG scope + Activity-Log usage — over-privileged, direct, guest, stale, and privileged-but-unused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61688"/>
            <a:ext cx="1691640" cy="1170432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02050"/>
                </a:solidFill>
                <a:latin typeface="Segoe UI"/>
              </a:rPr>
              <a:t>Wed 08:00
0 8 * *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4361688"/>
            <a:ext cx="251460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05EA6"/>
                </a:solidFill>
                <a:latin typeface="Segoe UI"/>
              </a:rPr>
              <a:t>zava-cost-weekly-analysis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361688"/>
            <a:ext cx="205740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002050"/>
                </a:solidFill>
                <a:latin typeface="Segoe UI"/>
              </a:rPr>
              <a:t>zava-cost-analyst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361688"/>
            <a:ext cx="1691640" cy="11704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0078D4"/>
                </a:solidFill>
                <a:latin typeface="Segoe UI"/>
              </a:rPr>
              <a:t>cost-analysis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4361688"/>
            <a:ext cx="3063240" cy="11704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950" b="0">
                <a:solidFill>
                  <a:srgbClr val="232323"/>
                </a:solidFill>
                <a:latin typeface="Segoe UI"/>
              </a:rPr>
              <a:t>Cost Management WoW spend per resource — top drivers, Δ% trend, and idle / oversized / orphaned resources with savings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532120"/>
            <a:ext cx="11201400" cy="10972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Every audit hands its findings to the zava-audit-report skill</a:t>
            </a:r>
          </a:p>
          <a:p>
            <a:pPr algn="l"/>
            <a:r>
              <a:rPr sz="1050">
                <a:solidFill>
                  <a:srgbClr val="FFFFFF"/>
                </a:solidFill>
                <a:latin typeface="Segoe UI"/>
              </a:rPr>
              <a:t>→ ONE branded PowerPoint (posture summary · SEV1/2/3 findings table · recommendations) verified on disk, with a clickable download link.   READ-ONLY: every auditor recommends, never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How a Weekly Audit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Every auditor follows the same 3-step read-only runbook and must produce the branded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66160" cy="23317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  Audit / Analyse</a:t>
            </a:r>
          </a:p>
          <a:p>
            <a:pPr algn="ctr"/>
            <a:r>
              <a:rPr sz="1050">
                <a:solidFill>
                  <a:srgbClr val="C7E0F4"/>
                </a:solidFill>
                <a:latin typeface="Segoe UI"/>
              </a:rPr>
              <a:t>
Load the audit skill (nsg-audit /
rbac-audit / cost-analysis):
enumerate &amp; assess posture,
score each finding SEV1/2/3,
build findings + recommendations.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9080" y="258318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43400" y="1417320"/>
            <a:ext cx="3566160" cy="2331720"/>
          </a:xfrm>
          <a:prstGeom prst="roundRect">
            <a:avLst/>
          </a:prstGeom>
          <a:solidFill>
            <a:srgbClr val="105EA6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  Report</a:t>
            </a:r>
          </a:p>
          <a:p>
            <a:pPr algn="ctr"/>
            <a:r>
              <a:rPr sz="1050">
                <a:solidFill>
                  <a:srgbClr val="C7E0F4"/>
                </a:solidFill>
                <a:latin typeface="Segoe UI"/>
              </a:rPr>
              <a:t>
Hand the findings to the
zava-audit-report skill — it
renders ONE branded PowerPoint
(posture summary, findings table,
cost-driver chart) into the thread.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09560" y="258318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183879" y="1417320"/>
            <a:ext cx="3566160" cy="233172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2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  Deliver</a:t>
            </a:r>
          </a:p>
          <a:p>
            <a:pPr algn="ctr"/>
            <a:r>
              <a:rPr sz="1050">
                <a:solidFill>
                  <a:srgbClr val="C7E0F4"/>
                </a:solidFill>
                <a:latin typeface="Segoe UI"/>
              </a:rPr>
              <a:t>
mkdir → write → VERIFY on disk
(non-zero bytes) → post a short
posture summary + the deck's
/api/files/… link as a clickable
markdown hyperlink (never a table).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3566160" cy="384048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FFFFFF"/>
                </a:solidFill>
                <a:latin typeface="Segoe UI"/>
              </a:rPr>
              <a:t>Read-only by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44568"/>
            <a:ext cx="3566160" cy="1810512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617720"/>
            <a:ext cx="334670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Auditors enumerate and recommend —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they NEVER create, modify, or delete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an NSG rule, role assignment, or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resource. No incident, no PagerDuty.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160520"/>
            <a:ext cx="3566160" cy="384048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Redaction always 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4544568"/>
            <a:ext cx="3566160" cy="1810512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4617720"/>
            <a:ext cx="334670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Before any thread message or deck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leaves the agent, the redaction-guard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scrubber (SearchMemory "zava-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redaction") strips secrets / tokens /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PII. Names, rules, roles, SKUs, $ kept.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4160520"/>
            <a:ext cx="3520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1">
                <a:solidFill>
                  <a:srgbClr val="50E6FF"/>
                </a:solidFill>
                <a:latin typeface="Segoe UI"/>
              </a:rPr>
              <a:t>Severity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4544568"/>
            <a:ext cx="3520440" cy="1810512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7" y="4617720"/>
            <a:ext cx="3300984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SEV1 = act now · SEV2 = this week ·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SEV3 = tidy-up. Intended lab exposure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(AppGw :8081–:8087) and first-party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platform identities are recognised and</a:t>
            </a:r>
          </a:p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listed, not flagged as findings.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1 — Connectivity (NSG)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Lane :8081 · quiz-nsg in the isolated 2nd Container Apps env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Student symptom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“Launch quiz” spins and fails; nothing was deployed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Root cause (agent diagnoses)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NSG priority inversion: a high-priority DENY shadows the ALLOW rule.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4747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Fault mechanism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IaC param injectLegacyDenyNsgLane = true
(committed + live NSG rule).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5486400" cy="4572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GOOD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520440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:8081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nsg lane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4306824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4544568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NSG  nsg-nsglane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AppGw → apps allowed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5093208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quiz-nsg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serves quiz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035040"/>
            <a:ext cx="5486400" cy="640080"/>
          </a:xfrm>
          <a:prstGeom prst="roundRect">
            <a:avLst/>
          </a:prstGeom>
          <a:solidFill>
            <a:srgbClr val="DFF6DD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107C10"/>
                </a:solidFill>
                <a:latin typeface="Segoe UI"/>
              </a:rPr>
              <a:t>NSG ships clean: the ALLOW rule (priority 200) lets the gateway reach quiz-nsg.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23160"/>
            <a:ext cx="5486400" cy="457200"/>
          </a:xfrm>
          <a:prstGeom prst="roundRect">
            <a:avLst/>
          </a:prstGeom>
          <a:solidFill>
            <a:srgbClr val="C52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BAD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3520440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:8081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nsg lane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4306824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0" y="428853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5292C"/>
                </a:solidFill>
                <a:latin typeface="Segoe UI"/>
              </a:rPr>
              <a:t>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544568"/>
            <a:ext cx="4572000" cy="54864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C5292C"/>
                </a:solidFill>
                <a:latin typeface="Segoe UI"/>
              </a:rPr>
              <a:t>NSG  nsg-nsglane</a:t>
            </a:r>
          </a:p>
          <a:p>
            <a:pPr algn="ctr"/>
            <a:r>
              <a:rPr sz="850">
                <a:solidFill>
                  <a:srgbClr val="C5292C"/>
                </a:solidFill>
                <a:latin typeface="Segoe UI"/>
              </a:rPr>
              <a:t>AppGw → apps allowed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5093208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1228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quiz-nsg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serves quiz content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6035040"/>
            <a:ext cx="5486400" cy="6400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C5292C"/>
                </a:solidFill>
                <a:latin typeface="Segoe UI"/>
              </a:rPr>
              <a:t>A legacy 'segmentation' DENY at priority 100 beats the ALLOW — traffic is blackholed.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1 — Response (NSG)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Fault → trigger → agent → the one triage skill specific to this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06040" cy="24688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5292C"/>
                </a:solidFill>
                <a:latin typeface="Segoe UI"/>
              </a:rPr>
              <a:t>①  Fault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NSG legacy DENY rule shipped
from IaC (priority-100 DENY
shadows the ALLOW).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606040" cy="24688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C1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16C00"/>
                </a:solidFill>
                <a:latin typeface="Segoe UI"/>
              </a:rPr>
              <a:t>②  Trigger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Synthetic student monitor →
PagerDuty:
'quiz launches failing'.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2606040" cy="246888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50E6FF"/>
                </a:solidFill>
                <a:latin typeface="Segoe UI"/>
              </a:rPr>
              <a:t>③  Agent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Segoe UI"/>
              </a:rPr>
              <a:t>
zava-incident-responder
autonomous · ≤3 attempts
(routed by the incident filter)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600200"/>
            <a:ext cx="2606040" cy="2468880"/>
          </a:xfrm>
          <a:prstGeom prst="roundRect">
            <a:avLst/>
          </a:prstGeom>
          <a:solidFill>
            <a:srgbClr val="C7E0F4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④  connectivity-triage</a:t>
            </a:r>
          </a:p>
          <a:p>
            <a:pPr algn="ctr"/>
            <a:r>
              <a:rPr sz="950">
                <a:solidFill>
                  <a:srgbClr val="232323"/>
                </a:solidFill>
                <a:latin typeface="Segoe UI"/>
              </a:rPr>
              <a:t>
Traces the request path App Gateway → NSG → Container Apps → APIs,
finds the broken hop, and remediates it.
Why here:  Edge/network symptom — the
gateway cannot reach quiz-nsg.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98280" y="1289304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078D4"/>
                </a:solidFill>
                <a:latin typeface="Segoe UI"/>
              </a:rPr>
              <a:t>★ skill specific to this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11247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Then the agent runs the shared close-out runbook (same for every scenario)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Segoe UI"/>
              </a:rPr>
              <a:t>rca-analysis → evidence-before-after → recommendations-next-steps → pr-delivery → servicenow-change-management → zava-reporting → pagerduty-incident-update          ▸ see “What Each Skill Does”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47120" cy="7132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50" b="1">
                <a:solidFill>
                  <a:srgbClr val="002050"/>
                </a:solidFill>
                <a:latin typeface="Segoe UI"/>
              </a:rPr>
              <a:t>Artifacts</a:t>
            </a:r>
          </a:p>
          <a:p>
            <a:pPr algn="l"/>
            <a:r>
              <a:rPr sz="1000">
                <a:solidFill>
                  <a:srgbClr val="232323"/>
                </a:solidFill>
                <a:latin typeface="Segoe UI"/>
              </a:rPr>
              <a:t>live mitigation (remove the legacy DENY rule)  ·  GitHub PR (revert injectLegacyDenyNsgLane (infra/))  ·  ServiceNow CR  ·  RCA  ·  before/after evidence  ·  HTML report  ·  PagerDuty 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Segoe UI"/>
              </a:rPr>
              <a:t>Connectors the agent reads:  App Insights · Log Analytics · Azure Monitor · Microsoft Learn (MCP)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2 — Gateway Backend (App Gateway)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Lane :8082 · quiz-appgw health probe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Student symptom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The portal returns 502 errors on every page; apps look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Root cause (agent diagnoses)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App Gateway health-probe path misconfigured to a path the app doesn't serve.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4747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Fault mechanism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IaC param appgwLaneProbePath
= /status-ping (committed + live probe).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5486400" cy="4572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GOOD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loads the portal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520440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:8082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health probe → backend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4306824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4544568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Health probe path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GET /health → 200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5093208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quiz-appgw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healthy 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035040"/>
            <a:ext cx="5486400" cy="640080"/>
          </a:xfrm>
          <a:prstGeom prst="roundRect">
            <a:avLst/>
          </a:prstGeom>
          <a:solidFill>
            <a:srgbClr val="DFF6DD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107C10"/>
                </a:solidFill>
                <a:latin typeface="Segoe UI"/>
              </a:rPr>
              <a:t>Probe path /health returns 200, so the gateway keeps the backend in rotation.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23160"/>
            <a:ext cx="5486400" cy="457200"/>
          </a:xfrm>
          <a:prstGeom prst="roundRect">
            <a:avLst/>
          </a:prstGeom>
          <a:solidFill>
            <a:srgbClr val="C52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BAD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loads the portal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3520440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:8082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health probe → backend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4306824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0" y="428853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5292C"/>
                </a:solidFill>
                <a:latin typeface="Segoe UI"/>
              </a:rPr>
              <a:t>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544568"/>
            <a:ext cx="4572000" cy="54864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C5292C"/>
                </a:solidFill>
                <a:latin typeface="Segoe UI"/>
              </a:rPr>
              <a:t>Health probe path</a:t>
            </a:r>
          </a:p>
          <a:p>
            <a:pPr algn="ctr"/>
            <a:r>
              <a:rPr sz="850">
                <a:solidFill>
                  <a:srgbClr val="C5292C"/>
                </a:solidFill>
                <a:latin typeface="Segoe UI"/>
              </a:rPr>
              <a:t>GET /health → 200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5093208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1228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quiz-appgw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healthy 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6035040"/>
            <a:ext cx="5486400" cy="6400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C5292C"/>
                </a:solidFill>
                <a:latin typeface="Segoe UI"/>
              </a:rPr>
              <a:t>Probe path points at a missing page → every backend marked unhealthy → 502s.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2 — Response (App Gateway)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Fault → trigger → agent → the one triage skill specific to this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06040" cy="24688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5292C"/>
                </a:solidFill>
                <a:latin typeface="Segoe UI"/>
              </a:rPr>
              <a:t>①  Fault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App Gateway probe path flipped
to /status-ping from IaC →
backend marked unhealthy (502s).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606040" cy="24688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C1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16C00"/>
                </a:solidFill>
                <a:latin typeface="Segoe UI"/>
              </a:rPr>
              <a:t>②  Trigger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Azure Monitor 5xx alert →
PagerDuty:
'portal returning 502s'.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2606040" cy="246888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50E6FF"/>
                </a:solidFill>
                <a:latin typeface="Segoe UI"/>
              </a:rPr>
              <a:t>③  Agent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Segoe UI"/>
              </a:rPr>
              <a:t>
zava-incident-responder
autonomous · ≤3 attempts
(routed by the incident filter)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600200"/>
            <a:ext cx="2606040" cy="2468880"/>
          </a:xfrm>
          <a:prstGeom prst="roundRect">
            <a:avLst/>
          </a:prstGeom>
          <a:solidFill>
            <a:srgbClr val="C7E0F4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④  connectivity-triage</a:t>
            </a:r>
          </a:p>
          <a:p>
            <a:pPr algn="ctr"/>
            <a:r>
              <a:rPr sz="950">
                <a:solidFill>
                  <a:srgbClr val="232323"/>
                </a:solidFill>
                <a:latin typeface="Segoe UI"/>
              </a:rPr>
              <a:t>
Traces the request path App Gateway → NSG → Container Apps → APIs,
finds the broken hop, and remediates it.
Why here:  Edge symptom — probe hits a
missing path, no healthy backend.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98280" y="1289304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078D4"/>
                </a:solidFill>
                <a:latin typeface="Segoe UI"/>
              </a:rPr>
              <a:t>★ skill specific to this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11247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Then the agent runs the shared close-out runbook (same for every scenario)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Segoe UI"/>
              </a:rPr>
              <a:t>rca-analysis → evidence-before-after → recommendations-next-steps → pr-delivery → servicenow-change-management → zava-reporting → pagerduty-incident-update          ▸ see “What Each Skill Does”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47120" cy="7132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50" b="1">
                <a:solidFill>
                  <a:srgbClr val="002050"/>
                </a:solidFill>
                <a:latin typeface="Segoe UI"/>
              </a:rPr>
              <a:t>Artifacts</a:t>
            </a:r>
          </a:p>
          <a:p>
            <a:pPr algn="l"/>
            <a:r>
              <a:rPr sz="1000">
                <a:solidFill>
                  <a:srgbClr val="232323"/>
                </a:solidFill>
                <a:latin typeface="Segoe UI"/>
              </a:rPr>
              <a:t>live mitigation (repoint the probe to /health)  ·  GitHub PR (restore appgwLaneProbePath=/health (infra/))  ·  ServiceNow CR  ·  RCA  ·  before/after evidence  ·  HTML report  ·  PagerDuty 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Segoe UI"/>
              </a:rPr>
              <a:t>Connectors the agent reads:  App Insights · Log Analytics · Azure Monitor · Microsoft Learn (MCP)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3 — No Healthy Instances (App)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Lane :8083 · quiz-app replica bounds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Student symptom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Quiz launches fail though the network looks clean.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Root cause (agent diagnoses)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The assessment service has zero healthy instances (scaled to zero).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4747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Fault mechanism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IaC params appLaneMin/MaxReplicas = 0
(committed + live scale).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5486400" cy="4572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GOOD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520440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:8083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app lane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4306824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4544568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quiz-app  replicas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min 1 / max 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5093208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 content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served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035040"/>
            <a:ext cx="5486400" cy="640080"/>
          </a:xfrm>
          <a:prstGeom prst="roundRect">
            <a:avLst/>
          </a:prstGeom>
          <a:solidFill>
            <a:srgbClr val="DFF6DD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107C10"/>
                </a:solidFill>
                <a:latin typeface="Segoe UI"/>
              </a:rPr>
              <a:t>Replica bounds 1–3 keep at least one instance answering requests.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23160"/>
            <a:ext cx="5486400" cy="457200"/>
          </a:xfrm>
          <a:prstGeom prst="roundRect">
            <a:avLst/>
          </a:prstGeom>
          <a:solidFill>
            <a:srgbClr val="C52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BAD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3520440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:8083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app lane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4306824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0" y="428853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5292C"/>
                </a:solidFill>
                <a:latin typeface="Segoe UI"/>
              </a:rPr>
              <a:t>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544568"/>
            <a:ext cx="4572000" cy="54864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C5292C"/>
                </a:solidFill>
                <a:latin typeface="Segoe UI"/>
              </a:rPr>
              <a:t>quiz-app  replicas</a:t>
            </a:r>
          </a:p>
          <a:p>
            <a:pPr algn="ctr"/>
            <a:r>
              <a:rPr sz="850">
                <a:solidFill>
                  <a:srgbClr val="C5292C"/>
                </a:solidFill>
                <a:latin typeface="Segoe UI"/>
              </a:rPr>
              <a:t>min 1 / max 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5093208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1228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 content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served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6035040"/>
            <a:ext cx="5486400" cy="6400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C5292C"/>
                </a:solidFill>
                <a:latin typeface="Segoe UI"/>
              </a:rPr>
              <a:t>Replicas pinned to 0 — nothing is left to serve quiz content; launches fail.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3 — Response (App)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Fault → trigger → agent → the one triage skill specific to this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06040" cy="24688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5292C"/>
                </a:solidFill>
                <a:latin typeface="Segoe UI"/>
              </a:rPr>
              <a:t>①  Fault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Replica bounds set to 0 from
IaC → quiz-app scaled to 0/0
(no instances).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606040" cy="24688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C1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16C00"/>
                </a:solidFill>
                <a:latin typeface="Segoe UI"/>
              </a:rPr>
              <a:t>②  Trigger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Monitor → PagerDuty:
'quiz service unavailable'.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2606040" cy="246888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50E6FF"/>
                </a:solidFill>
                <a:latin typeface="Segoe UI"/>
              </a:rPr>
              <a:t>③  Agent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Segoe UI"/>
              </a:rPr>
              <a:t>
zava-incident-responder
autonomous · ≤3 attempts
(routed by the incident filter)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600200"/>
            <a:ext cx="2606040" cy="2468880"/>
          </a:xfrm>
          <a:prstGeom prst="roundRect">
            <a:avLst/>
          </a:prstGeom>
          <a:solidFill>
            <a:srgbClr val="C7E0F4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④  performance-investigation</a:t>
            </a:r>
          </a:p>
          <a:p>
            <a:pPr algn="ctr"/>
            <a:r>
              <a:rPr sz="950">
                <a:solidFill>
                  <a:srgbClr val="232323"/>
                </a:solidFill>
                <a:latin typeface="Segoe UI"/>
              </a:rPr>
              <a:t>
Platform is reachable but a tier is degraded — diagnoses from App
Insights / Log Analytics / Syslog and fixes the app or worker tier.
Why here:  Platform reachable; the app tier
has zero healthy instances.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98280" y="1289304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078D4"/>
                </a:solidFill>
                <a:latin typeface="Segoe UI"/>
              </a:rPr>
              <a:t>★ skill specific to this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11247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Then the agent runs the shared close-out runbook (same for every scenario)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Segoe UI"/>
              </a:rPr>
              <a:t>rca-analysis → evidence-before-after → recommendations-next-steps → pr-delivery → servicenow-change-management → zava-reporting → pagerduty-incident-update          ▸ see “What Each Skill Does”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47120" cy="7132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50" b="1">
                <a:solidFill>
                  <a:srgbClr val="002050"/>
                </a:solidFill>
                <a:latin typeface="Segoe UI"/>
              </a:rPr>
              <a:t>Artifacts</a:t>
            </a:r>
          </a:p>
          <a:p>
            <a:pPr algn="l"/>
            <a:r>
              <a:rPr sz="1000">
                <a:solidFill>
                  <a:srgbClr val="232323"/>
                </a:solidFill>
                <a:latin typeface="Segoe UI"/>
              </a:rPr>
              <a:t>live mitigation (scale quiz-app back up)  ·  GitHub PR (restore replica bounds 1–3 (infra/))  ·  ServiceNow CR  ·  RCA  ·  before/after evidence  ·  HTML report  ·  PagerDuty 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Segoe UI"/>
              </a:rPr>
              <a:t>Connectors the agent reads:  App Insights · Log Analytics · Azure Monitor · Microsoft Learn (MCP)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4 — Slow Code Release (Perf)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Lane :8084 · quiz-perf container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Student symptom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Quizzes load but crawl; latency climbed right after the morning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Root cause (agent diagnoses)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A real bad code release runs heavy synchronous crypto on the request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4747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Fault mechanism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Real source → real image: releases/server.v1.1.js
built &amp; rolled out to quiz-perf.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5486400" cy="4572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GOOD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520440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:8084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perf lane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4306824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4544568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quiz-perf image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v1.0 clean build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5093208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PostgreSQL  zava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fast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035040"/>
            <a:ext cx="5486400" cy="640080"/>
          </a:xfrm>
          <a:prstGeom prst="roundRect">
            <a:avLst/>
          </a:prstGeom>
          <a:solidFill>
            <a:srgbClr val="DFF6DD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107C10"/>
                </a:solidFill>
                <a:latin typeface="Segoe UI"/>
              </a:rPr>
              <a:t>The clean v1.0 image returns quiz content in a few milliseconds.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23160"/>
            <a:ext cx="5486400" cy="457200"/>
          </a:xfrm>
          <a:prstGeom prst="roundRect">
            <a:avLst/>
          </a:prstGeom>
          <a:solidFill>
            <a:srgbClr val="C52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BAD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3520440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:8084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perf lane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4306824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0" y="428853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5292C"/>
                </a:solidFill>
                <a:latin typeface="Segoe UI"/>
              </a:rPr>
              <a:t>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544568"/>
            <a:ext cx="4572000" cy="54864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C5292C"/>
                </a:solidFill>
                <a:latin typeface="Segoe UI"/>
              </a:rPr>
              <a:t>quiz-perf image</a:t>
            </a:r>
          </a:p>
          <a:p>
            <a:pPr algn="ctr"/>
            <a:r>
              <a:rPr sz="850">
                <a:solidFill>
                  <a:srgbClr val="C5292C"/>
                </a:solidFill>
                <a:latin typeface="Segoe UI"/>
              </a:rPr>
              <a:t>v1.0 clean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5093208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1228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PostgreSQL  zava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fast response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6035040"/>
            <a:ext cx="5486400" cy="6400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C5292C"/>
                </a:solidFill>
                <a:latin typeface="Segoe UI"/>
              </a:rPr>
              <a:t>v1.1 adds a synchronous KDF (pbkdf2, 1.2M iters) on the hot path → 1–2 s per request.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4 — Response (Perf)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Fault → trigger → agent → the one triage skill specific to this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06040" cy="24688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5292C"/>
                </a:solidFill>
                <a:latin typeface="Segoe UI"/>
              </a:rPr>
              <a:t>①  Fault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Real v1.1 image with a
synchronous pbkdf2 KDF built
&amp; rolled out to quiz-perf.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606040" cy="24688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C1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16C00"/>
                </a:solidFill>
                <a:latin typeface="Segoe UI"/>
              </a:rPr>
              <a:t>②  Trigger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Azure Monitor latency alert →
PagerDuty:
'quiz launches slow'.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2606040" cy="246888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50E6FF"/>
                </a:solidFill>
                <a:latin typeface="Segoe UI"/>
              </a:rPr>
              <a:t>③  Agent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Segoe UI"/>
              </a:rPr>
              <a:t>
zava-incident-responder
autonomous · ≤3 attempts
(routed by the incident filter)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600200"/>
            <a:ext cx="2606040" cy="2468880"/>
          </a:xfrm>
          <a:prstGeom prst="roundRect">
            <a:avLst/>
          </a:prstGeom>
          <a:solidFill>
            <a:srgbClr val="C7E0F4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④  performance-investigation</a:t>
            </a:r>
          </a:p>
          <a:p>
            <a:pPr algn="ctr"/>
            <a:r>
              <a:rPr sz="950">
                <a:solidFill>
                  <a:srgbClr val="232323"/>
                </a:solidFill>
                <a:latin typeface="Segoe UI"/>
              </a:rPr>
              <a:t>
Platform is reachable but a tier is degraded — diagnoses from App
Insights / Log Analytics / Syslog and fixes the app or worker tier.
Why here:  App tier degraded — heavy crypto
on the hot quiz path.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98280" y="1289304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078D4"/>
                </a:solidFill>
                <a:latin typeface="Segoe UI"/>
              </a:rPr>
              <a:t>★ skill specific to this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11247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Then the agent runs the shared close-out runbook (same for every scenario)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Segoe UI"/>
              </a:rPr>
              <a:t>rca-analysis → evidence-before-after → recommendations-next-steps → pr-delivery → servicenow-change-management → zava-reporting → pagerduty-incident-update          ▸ see “What Each Skill Does”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47120" cy="7132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50" b="1">
                <a:solidFill>
                  <a:srgbClr val="002050"/>
                </a:solidFill>
                <a:latin typeface="Segoe UI"/>
              </a:rPr>
              <a:t>Artifacts</a:t>
            </a:r>
          </a:p>
          <a:p>
            <a:pPr algn="l"/>
            <a:r>
              <a:rPr sz="1000">
                <a:solidFill>
                  <a:srgbClr val="232323"/>
                </a:solidFill>
                <a:latin typeface="Segoe UI"/>
              </a:rPr>
              <a:t>live mitigation (roll back to the v1.0 revision)  ·  GitHub PR (roll back the v1.1 code release (src/))  ·  ServiceNow CR  ·  RCA  ·  before/after evidence  ·  HTML report  ·  PagerDuty 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Segoe UI"/>
              </a:rPr>
              <a:t>Connectors the agent reads:  App Insights · Log Analytics · Azure Monitor · Microsoft Learn (MCP)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5 — Database Query (Query)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Lane :8085 · quiz-query on isolated DB zava_query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Student symptom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Opening a quiz takes several seconds; app + release look clean.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Root cause (agent diagnoses)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A corrupt, unusable index forces a full table scan of the question bank.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4747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Fault mechanism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question_bank index corruption on
zava_query; fix = REINDEX/rebuild.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5486400" cy="4572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GOOD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520440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:8085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query lane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4306824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4544568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quiz-query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counts the question bank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5093208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PostgreSQL  zava_query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index 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035040"/>
            <a:ext cx="5486400" cy="640080"/>
          </a:xfrm>
          <a:prstGeom prst="roundRect">
            <a:avLst/>
          </a:prstGeom>
          <a:solidFill>
            <a:srgbClr val="DFF6DD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107C10"/>
                </a:solidFill>
                <a:latin typeface="Segoe UI"/>
              </a:rPr>
              <a:t>idx_question_bank_course makes the 500k-row lookup an index scan (fast).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23160"/>
            <a:ext cx="5486400" cy="457200"/>
          </a:xfrm>
          <a:prstGeom prst="roundRect">
            <a:avLst/>
          </a:prstGeom>
          <a:solidFill>
            <a:srgbClr val="C52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BAD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3520440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:8085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query lane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4306824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12280" y="4544568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quiz-query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counts the question bank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98280" y="5093208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0" y="50749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5292C"/>
                </a:solidFill>
                <a:latin typeface="Segoe UI"/>
              </a:rPr>
              <a:t>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5330952"/>
            <a:ext cx="4572000" cy="54864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C5292C"/>
                </a:solidFill>
                <a:latin typeface="Segoe UI"/>
              </a:rPr>
              <a:t>PostgreSQL  zava_query</a:t>
            </a:r>
          </a:p>
          <a:p>
            <a:pPr algn="ctr"/>
            <a:r>
              <a:rPr sz="850">
                <a:solidFill>
                  <a:srgbClr val="C5292C"/>
                </a:solidFill>
                <a:latin typeface="Segoe UI"/>
              </a:rPr>
              <a:t>index healthy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6035040"/>
            <a:ext cx="5486400" cy="6400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C5292C"/>
                </a:solidFill>
                <a:latin typeface="Segoe UI"/>
              </a:rPr>
              <a:t>Index corrupt/unusable → full sequential scan of 500k rows on every quiz → seconds.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5 — Response (Query)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Fault → trigger → agent → the one triage skill specific to this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06040" cy="24688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5292C"/>
                </a:solidFill>
                <a:latin typeface="Segoe UI"/>
              </a:rPr>
              <a:t>①  Fault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question_bank index dropped on
zava_query (simulated
corruption) → 500k-row scan.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606040" cy="24688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C1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16C00"/>
                </a:solidFill>
                <a:latin typeface="Segoe UI"/>
              </a:rPr>
              <a:t>②  Trigger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Azure Monitor latency alert →
PagerDuty:
'quiz loading slowly'.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2606040" cy="246888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50E6FF"/>
                </a:solidFill>
                <a:latin typeface="Segoe UI"/>
              </a:rPr>
              <a:t>③  Agent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Segoe UI"/>
              </a:rPr>
              <a:t>
zava-incident-responder
autonomous · ≤3 attempts
(routed by the incident filter)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600200"/>
            <a:ext cx="2606040" cy="2468880"/>
          </a:xfrm>
          <a:prstGeom prst="roundRect">
            <a:avLst/>
          </a:prstGeom>
          <a:solidFill>
            <a:srgbClr val="C7E0F4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④  performance-investigation</a:t>
            </a:r>
          </a:p>
          <a:p>
            <a:pPr algn="ctr"/>
            <a:r>
              <a:rPr sz="950">
                <a:solidFill>
                  <a:srgbClr val="232323"/>
                </a:solidFill>
                <a:latin typeface="Segoe UI"/>
              </a:rPr>
              <a:t>
Platform is reachable but a tier is degraded — diagnoses from App
Insights / Log Analytics / Syslog and fixes the app or worker tier.
Why here:  App reachable; the database does
a full table scan every request.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98280" y="1289304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078D4"/>
                </a:solidFill>
                <a:latin typeface="Segoe UI"/>
              </a:rPr>
              <a:t>★ skill specific to this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11247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Then the agent runs the shared close-out runbook (same for every scenario)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Segoe UI"/>
              </a:rPr>
              <a:t>rca-analysis → evidence-before-after → recommendations-next-steps → pr-delivery → servicenow-change-management → zava-reporting → pagerduty-incident-update          ▸ see “What Each Skill Does”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47120" cy="7132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50" b="1">
                <a:solidFill>
                  <a:srgbClr val="002050"/>
                </a:solidFill>
                <a:latin typeface="Segoe UI"/>
              </a:rPr>
              <a:t>Artifacts</a:t>
            </a:r>
          </a:p>
          <a:p>
            <a:pPr algn="l"/>
            <a:r>
              <a:rPr sz="1000">
                <a:solidFill>
                  <a:srgbClr val="232323"/>
                </a:solidFill>
                <a:latin typeface="Segoe UI"/>
              </a:rPr>
              <a:t>live mitigation (REINDEX / rebuild the index)  ·  GitHub PR (codify the index in schema/migration)  ·  ServiceNow CR  ·  RCA  ·  before/after evidence  ·  HTML report  ·  PagerDuty 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Segoe UI"/>
              </a:rPr>
              <a:t>Connectors the agent reads:  App Insights · Log Analytics · Azure Monitor · Microsoft Learn (MCP)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6 — Connection Exhaustion (Pool)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Lane :8086 · quiz-pool via DB role app_pool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Student symptom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Under exam load some students get errors while others succeed.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Root cause (agent diagnoses)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The database role caps connections, starving the service's pool under concurrency.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4747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Fault mechanism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Live DB role drift:
ALTER ROLE app_pool CONNECTION LIMIT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5486400" cy="4572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GOOD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 (under load)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520440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:8086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pool lane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4306824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4544568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quiz-pool  (role app_pool)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opens DB connections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5093208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PostgreSQL  zava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CONNECTION LIMIT 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035040"/>
            <a:ext cx="5486400" cy="640080"/>
          </a:xfrm>
          <a:prstGeom prst="roundRect">
            <a:avLst/>
          </a:prstGeom>
          <a:solidFill>
            <a:srgbClr val="DFF6DD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107C10"/>
                </a:solidFill>
                <a:latin typeface="Segoe UI"/>
              </a:rPr>
              <a:t>Role app_pool has no connection cap, so the pool serves concurrent students.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23160"/>
            <a:ext cx="5486400" cy="457200"/>
          </a:xfrm>
          <a:prstGeom prst="roundRect">
            <a:avLst/>
          </a:prstGeom>
          <a:solidFill>
            <a:srgbClr val="C52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BAD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 (under load)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3520440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:8086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pool lane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4306824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12280" y="4544568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quiz-pool  (role app_pool)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opens DB connections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98280" y="5093208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0" y="50749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5292C"/>
                </a:solidFill>
                <a:latin typeface="Segoe UI"/>
              </a:rPr>
              <a:t>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5330952"/>
            <a:ext cx="4572000" cy="54864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C5292C"/>
                </a:solidFill>
                <a:latin typeface="Segoe UI"/>
              </a:rPr>
              <a:t>PostgreSQL  zava</a:t>
            </a:r>
          </a:p>
          <a:p>
            <a:pPr algn="ctr"/>
            <a:r>
              <a:rPr sz="850">
                <a:solidFill>
                  <a:srgbClr val="C5292C"/>
                </a:solidFill>
                <a:latin typeface="Segoe UI"/>
              </a:rPr>
              <a:t>CONNECTION LIMIT -1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6035040"/>
            <a:ext cx="5486400" cy="6400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C5292C"/>
                </a:solidFill>
                <a:latin typeface="Segoe UI"/>
              </a:rPr>
              <a:t>ALTER ROLE app_pool CONNECTION LIMIT 1 → pool starves under load → 500s.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6 — Response (Pool)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Fault → trigger → agent → the one triage skill specific to this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06040" cy="24688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5292C"/>
                </a:solidFill>
                <a:latin typeface="Segoe UI"/>
              </a:rPr>
              <a:t>①  Fault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app_pool DB role capped to 1
connection (live DB drift).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606040" cy="24688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C1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16C00"/>
                </a:solidFill>
                <a:latin typeface="Segoe UI"/>
              </a:rPr>
              <a:t>②  Trigger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Azure Monitor error-rate alert →
PagerDuty:
'errors under load'.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2606040" cy="246888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50E6FF"/>
                </a:solidFill>
                <a:latin typeface="Segoe UI"/>
              </a:rPr>
              <a:t>③  Agent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Segoe UI"/>
              </a:rPr>
              <a:t>
zava-incident-responder
autonomous · ≤3 attempts
(routed by the incident filter)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600200"/>
            <a:ext cx="2606040" cy="2468880"/>
          </a:xfrm>
          <a:prstGeom prst="roundRect">
            <a:avLst/>
          </a:prstGeom>
          <a:solidFill>
            <a:srgbClr val="C7E0F4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④  performance-investigation</a:t>
            </a:r>
          </a:p>
          <a:p>
            <a:pPr algn="ctr"/>
            <a:r>
              <a:rPr sz="950">
                <a:solidFill>
                  <a:srgbClr val="232323"/>
                </a:solidFill>
                <a:latin typeface="Segoe UI"/>
              </a:rPr>
              <a:t>
Platform is reachable but a tier is degraded — diagnoses from App
Insights / Log Analytics / Syslog and fixes the app or worker tier.
Why here:  Reachable, but the pool starves
under concurrency → 500s.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98280" y="1289304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078D4"/>
                </a:solidFill>
                <a:latin typeface="Segoe UI"/>
              </a:rPr>
              <a:t>★ skill specific to this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11247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Then the agent runs the shared close-out runbook (same for every scenario)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Segoe UI"/>
              </a:rPr>
              <a:t>rca-analysis → evidence-before-after → recommendations-next-steps → pr-delivery → servicenow-change-management → zava-reporting → pagerduty-incident-update          ▸ see “What Each Skill Does”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47120" cy="7132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50" b="1">
                <a:solidFill>
                  <a:srgbClr val="002050"/>
                </a:solidFill>
                <a:latin typeface="Segoe UI"/>
              </a:rPr>
              <a:t>Artifacts</a:t>
            </a:r>
          </a:p>
          <a:p>
            <a:pPr algn="l"/>
            <a:r>
              <a:rPr sz="1000">
                <a:solidFill>
                  <a:srgbClr val="232323"/>
                </a:solidFill>
                <a:latin typeface="Segoe UI"/>
              </a:rPr>
              <a:t>live mitigation (reset the role connection limit)  ·  GitHub PR (codify the role connection policy)  ·  ServiceNow CR  ·  RCA  ·  before/after evidence  ·  HTML report  ·  PagerDuty 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Segoe UI"/>
              </a:rPr>
              <a:t>Connectors the agent reads:  App Insights · Log Analytics · Azure Monitor · Microsoft Learn (MCP)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7 — Bad Credential (Secret)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Lane :8087 · quiz-secret via Key Vault secret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Student symptom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Every quiz launch on this service fails; nothing was deployed.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Root cause (agent diagnoses)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The database credential in Key Vault was rotated to a value that no longer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4747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Fault mechanism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Live secret drift: rotate Key Vault
db-password-secretlane to an invalid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5486400" cy="4572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GOOD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520440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:8087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secret lane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4306824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4544568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Key Vault secret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db-password-secretlane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5093208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PostgreSQL  zava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auth succeeds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035040"/>
            <a:ext cx="5486400" cy="640080"/>
          </a:xfrm>
          <a:prstGeom prst="roundRect">
            <a:avLst/>
          </a:prstGeom>
          <a:solidFill>
            <a:srgbClr val="DFF6DD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107C10"/>
                </a:solidFill>
                <a:latin typeface="Segoe UI"/>
              </a:rPr>
              <a:t>The lane's Key Vault secret holds the real password, so DB auth succeeds.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23160"/>
            <a:ext cx="5486400" cy="457200"/>
          </a:xfrm>
          <a:prstGeom prst="roundRect">
            <a:avLst/>
          </a:prstGeom>
          <a:solidFill>
            <a:srgbClr val="C52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BAD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Student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launches a quiz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3520440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Application Gateway  :8087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routes to the secret lane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4306824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0" y="428853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5292C"/>
                </a:solidFill>
                <a:latin typeface="Segoe UI"/>
              </a:rPr>
              <a:t>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544568"/>
            <a:ext cx="4572000" cy="54864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C5292C"/>
                </a:solidFill>
                <a:latin typeface="Segoe UI"/>
              </a:rPr>
              <a:t>Key Vault secret</a:t>
            </a:r>
          </a:p>
          <a:p>
            <a:pPr algn="ctr"/>
            <a:r>
              <a:rPr sz="850">
                <a:solidFill>
                  <a:srgbClr val="C5292C"/>
                </a:solidFill>
                <a:latin typeface="Segoe UI"/>
              </a:rPr>
              <a:t>db-password-secretlane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5093208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1228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PostgreSQL  zava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auth succeeds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6035040"/>
            <a:ext cx="5486400" cy="6400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C5292C"/>
                </a:solidFill>
                <a:latin typeface="Segoe UI"/>
              </a:rPr>
              <a:t>Secret rotated to an invalid value → service can't authenticate → all launches fail.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7 — Response (Secret)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Fault → trigger → agent → the one triage skill specific to this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06040" cy="24688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5292C"/>
                </a:solidFill>
                <a:latin typeface="Segoe UI"/>
              </a:rPr>
              <a:t>①  Fault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Key Vault secret db-password-
secretlane rotated to an invalid
value (live drift).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606040" cy="24688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C1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16C00"/>
                </a:solidFill>
                <a:latin typeface="Segoe UI"/>
              </a:rPr>
              <a:t>②  Trigger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Azure Monitor auth-failure alert →
PagerDuty:
'service failing'.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2606040" cy="246888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50E6FF"/>
                </a:solidFill>
                <a:latin typeface="Segoe UI"/>
              </a:rPr>
              <a:t>③  Agent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Segoe UI"/>
              </a:rPr>
              <a:t>
zava-incident-responder
autonomous · ≤3 attempts
(routed by the incident filter)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600200"/>
            <a:ext cx="2606040" cy="2468880"/>
          </a:xfrm>
          <a:prstGeom prst="roundRect">
            <a:avLst/>
          </a:prstGeom>
          <a:solidFill>
            <a:srgbClr val="C7E0F4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④  connectivity-triage</a:t>
            </a:r>
          </a:p>
          <a:p>
            <a:pPr algn="ctr"/>
            <a:r>
              <a:rPr sz="950">
                <a:solidFill>
                  <a:srgbClr val="232323"/>
                </a:solidFill>
                <a:latin typeface="Segoe UI"/>
              </a:rPr>
              <a:t>
Traces the request path App Gateway → NSG → Container Apps → APIs,
finds the broken hop, and remediates it.
Why here:  The service can no longer
authenticate to its database.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98280" y="1289304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078D4"/>
                </a:solidFill>
                <a:latin typeface="Segoe UI"/>
              </a:rPr>
              <a:t>★ skill specific to this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11247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Then the agent runs the shared close-out runbook (same for every scenario)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Segoe UI"/>
              </a:rPr>
              <a:t>rca-analysis → evidence-before-after → recommendations-next-steps → pr-delivery → servicenow-change-management → zava-reporting → pagerduty-incident-update          ▸ see “What Each Skill Does”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47120" cy="7132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50" b="1">
                <a:solidFill>
                  <a:srgbClr val="002050"/>
                </a:solidFill>
                <a:latin typeface="Segoe UI"/>
              </a:rPr>
              <a:t>Artifacts</a:t>
            </a:r>
          </a:p>
          <a:p>
            <a:pPr algn="l"/>
            <a:r>
              <a:rPr sz="1000">
                <a:solidFill>
                  <a:srgbClr val="232323"/>
                </a:solidFill>
                <a:latin typeface="Segoe UI"/>
              </a:rPr>
              <a:t>live mitigation (restore the valid Key Vault secret)  ·  GitHub PR (add secret-rotation guardrails)  ·  ServiceNow CR  ·  RCA  ·  before/after evidence  ·  HTML report  ·  PagerDuty 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Segoe UI"/>
              </a:rPr>
              <a:t>Connectors the agent reads:  App Insights · Log Analytics · Azure Monitor · Microsoft Learn (MCP)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8 — Disk Pressure (Reporting Worker)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Back-office VM · vm-zava-reporting (no AppGw lane)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Student symptom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Instructors stop receiving nightly grade exports; the student site is healthy.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7033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Root cause (agent diagnoses)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The reporting worker's data disk filled up, so export writes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474720" cy="82296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00" b="1">
                <a:solidFill>
                  <a:srgbClr val="50E6FF"/>
                </a:solidFill>
                <a:latin typeface="Segoe UI"/>
              </a:rPr>
              <a:t>Fault mechanism</a:t>
            </a:r>
          </a:p>
          <a:p>
            <a:pPr algn="l"/>
            <a:r>
              <a:rPr sz="1000">
                <a:solidFill>
                  <a:srgbClr val="FFFFFF"/>
                </a:solidFill>
                <a:latin typeface="Segoe UI"/>
              </a:rPr>
              <a:t>Live VM drift: fill /data on the
reporting worker; fix = free 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5486400" cy="45720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GOOD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Nightly grade-export job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writes export files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520440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012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Reporting-worker VM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runs the export timer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4306824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4544568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Data disk  /data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stores exports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5093208"/>
            <a:ext cx="0" cy="237744"/>
          </a:xfrm>
          <a:prstGeom prst="line">
            <a:avLst/>
          </a:prstGeom>
          <a:ln w="25400">
            <a:solidFill>
              <a:srgbClr val="107C1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Instructor grade export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delivered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6035040"/>
            <a:ext cx="5486400" cy="640080"/>
          </a:xfrm>
          <a:prstGeom prst="roundRect">
            <a:avLst/>
          </a:prstGeom>
          <a:solidFill>
            <a:srgbClr val="DFF6DD"/>
          </a:solidFill>
          <a:ln w="15875">
            <a:solidFill>
              <a:srgbClr val="107C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107C10"/>
                </a:solidFill>
                <a:latin typeface="Segoe UI"/>
              </a:rPr>
              <a:t>Exports write to /data and rotate; the job logs a success heartbeat to Syslog.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23160"/>
            <a:ext cx="5486400" cy="457200"/>
          </a:xfrm>
          <a:prstGeom prst="roundRect">
            <a:avLst/>
          </a:prstGeom>
          <a:solidFill>
            <a:srgbClr val="C52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BAD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971800"/>
            <a:ext cx="4572000" cy="548640"/>
          </a:xfrm>
          <a:prstGeom prst="roundRect">
            <a:avLst/>
          </a:prstGeom>
          <a:solidFill>
            <a:srgbClr val="0078D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Nightly grade-export job</a:t>
            </a:r>
          </a:p>
          <a:p>
            <a:pPr algn="ctr"/>
            <a:r>
              <a:rPr sz="850">
                <a:solidFill>
                  <a:srgbClr val="C7E0F4"/>
                </a:solidFill>
                <a:latin typeface="Segoe UI"/>
              </a:rPr>
              <a:t>writes export files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3520440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3758184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Reporting-worker VM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runs the export timer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4306824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0" y="428853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5292C"/>
                </a:solidFill>
                <a:latin typeface="Segoe UI"/>
              </a:rPr>
              <a:t>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544568"/>
            <a:ext cx="4572000" cy="54864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C5292C"/>
                </a:solidFill>
                <a:latin typeface="Segoe UI"/>
              </a:rPr>
              <a:t>Data disk  /data</a:t>
            </a:r>
          </a:p>
          <a:p>
            <a:pPr algn="ctr"/>
            <a:r>
              <a:rPr sz="850">
                <a:solidFill>
                  <a:srgbClr val="C5292C"/>
                </a:solidFill>
                <a:latin typeface="Segoe UI"/>
              </a:rPr>
              <a:t>stores exports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5093208"/>
            <a:ext cx="0" cy="237744"/>
          </a:xfrm>
          <a:prstGeom prst="line">
            <a:avLst/>
          </a:prstGeom>
          <a:ln w="25400">
            <a:solidFill>
              <a:srgbClr val="C5292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12280" y="5330952"/>
            <a:ext cx="4572000" cy="548640"/>
          </a:xfrm>
          <a:prstGeom prst="roundRect">
            <a:avLst/>
          </a:prstGeom>
          <a:solidFill>
            <a:srgbClr val="C7E0F4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002050"/>
                </a:solidFill>
                <a:latin typeface="Segoe UI"/>
              </a:rPr>
              <a:t>Instructor grade export</a:t>
            </a:r>
          </a:p>
          <a:p>
            <a:pPr algn="ctr"/>
            <a:r>
              <a:rPr sz="850">
                <a:solidFill>
                  <a:srgbClr val="606060"/>
                </a:solidFill>
                <a:latin typeface="Segoe UI"/>
              </a:rPr>
              <a:t>delivered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6035040"/>
            <a:ext cx="5486400" cy="6400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C5292C"/>
                </a:solidFill>
                <a:latin typeface="Segoe UI"/>
              </a:rPr>
              <a:t>Data disk fills (No space left on device) → every export run fails → no exports.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Scenario 8 — Response (Reporting VM)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Fault → trigger → agent → the one triage skill specific to this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06040" cy="2468880"/>
          </a:xfrm>
          <a:prstGeom prst="roundRect">
            <a:avLst/>
          </a:prstGeom>
          <a:solidFill>
            <a:srgbClr val="FDE7E9"/>
          </a:solidFill>
          <a:ln w="15875">
            <a:solidFill>
              <a:srgbClr val="C52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5292C"/>
                </a:solidFill>
                <a:latin typeface="Segoe UI"/>
              </a:rPr>
              <a:t>①  Fault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Reporting-worker VM /data filled
via az vm run-command (live VM
drift) → exports can't write.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606040" cy="246888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C1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C16C00"/>
                </a:solidFill>
                <a:latin typeface="Segoe UI"/>
              </a:rPr>
              <a:t>②  Trigger</a:t>
            </a:r>
          </a:p>
          <a:p>
            <a:pPr algn="ctr"/>
            <a:r>
              <a:rPr sz="1050">
                <a:solidFill>
                  <a:srgbClr val="232323"/>
                </a:solidFill>
                <a:latin typeface="Segoe UI"/>
              </a:rPr>
              <a:t>
Azure Monitor Syslog alert:
Zava-grade-exports-failing
(no synthetic monitor).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2606040" cy="246888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400" b="1">
                <a:solidFill>
                  <a:srgbClr val="50E6FF"/>
                </a:solidFill>
                <a:latin typeface="Segoe UI"/>
              </a:rPr>
              <a:t>③  Agent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Segoe UI"/>
              </a:rPr>
              <a:t>
zava-incident-responder
autonomous · ≤3 attempts
(routed by the incident filter)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600200"/>
            <a:ext cx="2606040" cy="2468880"/>
          </a:xfrm>
          <a:prstGeom prst="roundRect">
            <a:avLst/>
          </a:prstGeom>
          <a:solidFill>
            <a:srgbClr val="C7E0F4"/>
          </a:solidFill>
          <a:ln w="317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ctr"/>
            <a:r>
              <a:rPr sz="1200" b="1">
                <a:solidFill>
                  <a:srgbClr val="002050"/>
                </a:solidFill>
                <a:latin typeface="Segoe UI"/>
              </a:rPr>
              <a:t>④  performance-investigation</a:t>
            </a:r>
          </a:p>
          <a:p>
            <a:pPr algn="ctr"/>
            <a:r>
              <a:rPr sz="950">
                <a:solidFill>
                  <a:srgbClr val="232323"/>
                </a:solidFill>
                <a:latin typeface="Segoe UI"/>
              </a:rPr>
              <a:t>
Platform is reachable but a tier is degraded — diagnoses from App
Insights / Log Analytics / Syslog and fixes the app or worker tier.
Why here:  Back-office VM batch job fails;
the student site stays healthy.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2834640"/>
            <a:ext cx="274320" cy="0"/>
          </a:xfrm>
          <a:prstGeom prst="line">
            <a:avLst/>
          </a:prstGeom>
          <a:ln w="25400">
            <a:solidFill>
              <a:srgbClr val="002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98280" y="1289304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078D4"/>
                </a:solidFill>
                <a:latin typeface="Segoe UI"/>
              </a:rPr>
              <a:t>★ skill specific to this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11247120" cy="9144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Then the agent runs the shared close-out runbook (same for every scenario)</a:t>
            </a:r>
          </a:p>
          <a:p>
            <a:pPr algn="l"/>
            <a:r>
              <a:rPr sz="1050">
                <a:solidFill>
                  <a:srgbClr val="FFFFFF"/>
                </a:solidFill>
                <a:latin typeface="Segoe UI"/>
              </a:rPr>
              <a:t>rca-analysis → evidence-before-after → recommendations-next-steps → pr-delivery → servicenow-change-management → zava-reporting → pagerduty-incident-update          ▸ see “What Each Skill Does”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94960"/>
            <a:ext cx="11247120" cy="713232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/>
            <a:r>
              <a:rPr sz="1150" b="1">
                <a:solidFill>
                  <a:srgbClr val="002050"/>
                </a:solidFill>
                <a:latin typeface="Segoe UI"/>
              </a:rPr>
              <a:t>Artifacts</a:t>
            </a:r>
          </a:p>
          <a:p>
            <a:pPr algn="l"/>
            <a:r>
              <a:rPr sz="1000">
                <a:solidFill>
                  <a:srgbClr val="232323"/>
                </a:solidFill>
                <a:latin typeface="Segoe UI"/>
              </a:rPr>
              <a:t>live mitigation (free space on /data)  ·  GitHub PR (add disk-pressure guardrails to IaC)  ·  ServiceNow CR  ·  RCA  ·  before/after evidence  ·  HTML report  ·  PagerDuty 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Segoe UI"/>
              </a:rPr>
              <a:t>Connectors the agent reads:  App Insights · Log Analytics · Azure Monitor · Microsoft Learn (MCP)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How It All Connects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05EA6"/>
                </a:solidFill>
                <a:latin typeface="Segoe UI"/>
              </a:rPr>
              <a:t>One platform, one environment, eight independent stories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155680" cy="1371600"/>
          </a:xfrm>
          <a:prstGeom prst="roundRect">
            <a:avLst/>
          </a:prstGeom>
          <a:solidFill>
            <a:srgbClr val="EFF6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300" b="0">
                <a:solidFill>
                  <a:srgbClr val="232323"/>
                </a:solidFill>
                <a:latin typeface="Segoe UI"/>
              </a:rPr>
              <a:t>Students → Application Gateway → Container Apps → PostgreSQL + Key Vault.  Azure Monitor and a synthetic
monitor page PagerDuty; the SRE Agent acknowledges, diagnoses against this exact topology, mitigates live,
and opens an IaC pull request for the durable fix. reset.ps1 returns every lane to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2050"/>
                </a:solidFill>
                <a:latin typeface="Segoe UI"/>
              </a:rPr>
              <a:t>Fault surfaces, one per scenario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91840"/>
            <a:ext cx="210312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3291840"/>
            <a:ext cx="3291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Segoe UI"/>
              </a:rPr>
              <a:t>NSG DENY rule (IaC param)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12464"/>
            <a:ext cx="210312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3712464"/>
            <a:ext cx="3291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Segoe UI"/>
              </a:rPr>
              <a:t>App Gateway health probe (IaC param)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33088"/>
            <a:ext cx="210312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Compute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4133088"/>
            <a:ext cx="3291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Segoe UI"/>
              </a:rPr>
              <a:t>Replica bounds → zero (IaC param)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53712"/>
            <a:ext cx="210312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App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4553712"/>
            <a:ext cx="3291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Segoe UI"/>
              </a:rPr>
              <a:t>Slow release: real source → real 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74336"/>
            <a:ext cx="210312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Database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4974336"/>
            <a:ext cx="3291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Segoe UI"/>
              </a:rPr>
              <a:t>Index corruption → REINDEX (live DB drift)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94960"/>
            <a:ext cx="210312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Database role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5394960"/>
            <a:ext cx="3291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Segoe UI"/>
              </a:rPr>
              <a:t>Connection limit (live DB drift)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815584"/>
            <a:ext cx="210312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Secrets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5815584"/>
            <a:ext cx="3291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Segoe UI"/>
              </a:rPr>
              <a:t>Rotated Key Vault credential (live drift)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6236208"/>
            <a:ext cx="210312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Reporting VM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6236208"/>
            <a:ext cx="3291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00" b="0">
                <a:solidFill>
                  <a:srgbClr val="232323"/>
                </a:solidFill>
                <a:latin typeface="Segoe UI"/>
              </a:rPr>
              <a:t>Grade-export disk fills up (live VM drift)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2050"/>
                </a:solidFill>
                <a:latin typeface="Segoe UI"/>
              </a:rPr>
              <a:t>Legend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3410712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7416" y="334670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Azure service / healthy component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3776472"/>
            <a:ext cx="146304" cy="146304"/>
          </a:xfrm>
          <a:prstGeom prst="ellipse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57416" y="3712463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Container Apps lane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4142232"/>
            <a:ext cx="146304" cy="146304"/>
          </a:xfrm>
          <a:prstGeom prst="ellipse">
            <a:avLst/>
          </a:prstGeom>
          <a:solidFill>
            <a:srgbClr val="C52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7416" y="407822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Broken component / blocked path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44439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Good-state flow / reset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4873752"/>
            <a:ext cx="146304" cy="146304"/>
          </a:xfrm>
          <a:prstGeom prst="ellipse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7416" y="48097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32323"/>
                </a:solidFill>
                <a:latin typeface="Segoe UI"/>
              </a:rPr>
              <a:t>Operations &amp; SRE 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5440680"/>
            <a:ext cx="5120640" cy="960120"/>
          </a:xfrm>
          <a:prstGeom prst="roundRect">
            <a:avLst/>
          </a:prstGeom>
          <a:solidFill>
            <a:srgbClr val="002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150" b="0">
                <a:solidFill>
                  <a:srgbClr val="FFFFFF"/>
                </a:solidFill>
                <a:latin typeface="Segoe UI"/>
              </a:rPr>
              <a:t>Symptom-only by design: alerts and student-facing symptoms never name the cause —
diagnosing it is the SRE Agent's job.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